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elegraf Bold" charset="1" panose="00000800000000000000"/>
      <p:regular r:id="rId15"/>
    </p:embeddedFont>
    <p:embeddedFont>
      <p:font typeface="Open Sauce" charset="1" panose="00000500000000000000"/>
      <p:regular r:id="rId16"/>
    </p:embeddedFont>
    <p:embeddedFont>
      <p:font typeface="Gladiola" charset="1" panose="00000500000000000000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.jpe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974" y="-209221"/>
            <a:ext cx="18659948" cy="10496221"/>
          </a:xfrm>
          <a:custGeom>
            <a:avLst/>
            <a:gdLst/>
            <a:ahLst/>
            <a:cxnLst/>
            <a:rect r="r" b="b" t="t" l="l"/>
            <a:pathLst>
              <a:path h="10496221" w="18659948">
                <a:moveTo>
                  <a:pt x="0" y="0"/>
                </a:moveTo>
                <a:lnTo>
                  <a:pt x="18659948" y="0"/>
                </a:lnTo>
                <a:lnTo>
                  <a:pt x="18659948" y="10496221"/>
                </a:lnTo>
                <a:lnTo>
                  <a:pt x="0" y="10496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200522" y="-8835980"/>
            <a:ext cx="4596985" cy="18998030"/>
            <a:chOff x="0" y="0"/>
            <a:chExt cx="1210728" cy="50035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729" cy="5003596"/>
            </a:xfrm>
            <a:custGeom>
              <a:avLst/>
              <a:gdLst/>
              <a:ahLst/>
              <a:cxnLst/>
              <a:rect r="r" b="b" t="t" l="l"/>
              <a:pathLst>
                <a:path h="5003596" w="1210729">
                  <a:moveTo>
                    <a:pt x="0" y="0"/>
                  </a:moveTo>
                  <a:lnTo>
                    <a:pt x="1210729" y="0"/>
                  </a:lnTo>
                  <a:lnTo>
                    <a:pt x="1210729" y="5003596"/>
                  </a:lnTo>
                  <a:lnTo>
                    <a:pt x="0" y="5003596"/>
                  </a:ln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100000"/>
                  </a:srgbClr>
                </a:gs>
                <a:gs pos="100000">
                  <a:srgbClr val="320C0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10728" cy="5032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533027"/>
            <a:ext cx="16890762" cy="233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74"/>
              </a:lnSpc>
            </a:pPr>
            <a:r>
              <a:rPr lang="en-US" b="true" sz="19070" spc="-1182">
                <a:solidFill>
                  <a:srgbClr val="FF3131">
                    <a:alpha val="90980"/>
                  </a:srgbClr>
                </a:solidFill>
                <a:latin typeface="Telegraf Bold"/>
                <a:ea typeface="Telegraf Bold"/>
                <a:cs typeface="Telegraf Bold"/>
                <a:sym typeface="Telegraf Bold"/>
              </a:rPr>
              <a:t>PREDICHECK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26123" y="5015829"/>
            <a:ext cx="1991717" cy="527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55"/>
              </a:lnSpc>
              <a:spcBef>
                <a:spcPct val="0"/>
              </a:spcBef>
            </a:pPr>
            <a:r>
              <a:rPr lang="en-US" sz="30896" spc="-617">
                <a:solidFill>
                  <a:srgbClr val="FF3131">
                    <a:alpha val="56863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~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66758" y="7266727"/>
            <a:ext cx="7510447" cy="302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99"/>
              </a:lnSpc>
              <a:spcBef>
                <a:spcPct val="0"/>
              </a:spcBef>
            </a:pPr>
            <a:r>
              <a:rPr lang="en-US" sz="7785" spc="-155">
                <a:solidFill>
                  <a:srgbClr val="FFFFFF">
                    <a:alpha val="35686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7785" spc="-155">
                <a:solidFill>
                  <a:srgbClr val="FFFFFF">
                    <a:alpha val="35686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ode          Found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486" y="-62148"/>
            <a:ext cx="18398486" cy="10349148"/>
          </a:xfrm>
          <a:custGeom>
            <a:avLst/>
            <a:gdLst/>
            <a:ahLst/>
            <a:cxnLst/>
            <a:rect r="r" b="b" t="t" l="l"/>
            <a:pathLst>
              <a:path h="10349148" w="18398486">
                <a:moveTo>
                  <a:pt x="0" y="0"/>
                </a:moveTo>
                <a:lnTo>
                  <a:pt x="18398486" y="0"/>
                </a:lnTo>
                <a:lnTo>
                  <a:pt x="18398486" y="10349148"/>
                </a:lnTo>
                <a:lnTo>
                  <a:pt x="0" y="10349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66469" y="1794042"/>
            <a:ext cx="7270065" cy="8018761"/>
            <a:chOff x="0" y="0"/>
            <a:chExt cx="1281611" cy="14135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1611" cy="1413595"/>
            </a:xfrm>
            <a:custGeom>
              <a:avLst/>
              <a:gdLst/>
              <a:ahLst/>
              <a:cxnLst/>
              <a:rect r="r" b="b" t="t" l="l"/>
              <a:pathLst>
                <a:path h="1413595" w="1281611">
                  <a:moveTo>
                    <a:pt x="83062" y="0"/>
                  </a:moveTo>
                  <a:lnTo>
                    <a:pt x="1198548" y="0"/>
                  </a:lnTo>
                  <a:cubicBezTo>
                    <a:pt x="1220578" y="0"/>
                    <a:pt x="1241705" y="8751"/>
                    <a:pt x="1257282" y="24328"/>
                  </a:cubicBezTo>
                  <a:cubicBezTo>
                    <a:pt x="1272859" y="39906"/>
                    <a:pt x="1281611" y="61033"/>
                    <a:pt x="1281611" y="83062"/>
                  </a:cubicBezTo>
                  <a:lnTo>
                    <a:pt x="1281611" y="1330533"/>
                  </a:lnTo>
                  <a:cubicBezTo>
                    <a:pt x="1281611" y="1376407"/>
                    <a:pt x="1244422" y="1413595"/>
                    <a:pt x="1198548" y="1413595"/>
                  </a:cubicBezTo>
                  <a:lnTo>
                    <a:pt x="83062" y="1413595"/>
                  </a:lnTo>
                  <a:cubicBezTo>
                    <a:pt x="37188" y="1413595"/>
                    <a:pt x="0" y="1376407"/>
                    <a:pt x="0" y="1330533"/>
                  </a:cubicBezTo>
                  <a:lnTo>
                    <a:pt x="0" y="83062"/>
                  </a:lnTo>
                  <a:cubicBezTo>
                    <a:pt x="0" y="37188"/>
                    <a:pt x="37188" y="0"/>
                    <a:pt x="83062" y="0"/>
                  </a:cubicBezTo>
                  <a:close/>
                </a:path>
              </a:pathLst>
            </a:custGeom>
            <a:blipFill>
              <a:blip r:embed="rId3">
                <a:alphaModFix amt="85000"/>
              </a:blip>
              <a:stretch>
                <a:fillRect l="-32620" t="0" r="-326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37187" y="1794042"/>
            <a:ext cx="7363675" cy="3798142"/>
            <a:chOff x="0" y="0"/>
            <a:chExt cx="1939404" cy="10003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9404" cy="1000334"/>
            </a:xfrm>
            <a:custGeom>
              <a:avLst/>
              <a:gdLst/>
              <a:ahLst/>
              <a:cxnLst/>
              <a:rect r="r" b="b" t="t" l="l"/>
              <a:pathLst>
                <a:path h="1000334" w="1939404">
                  <a:moveTo>
                    <a:pt x="26284" y="0"/>
                  </a:moveTo>
                  <a:lnTo>
                    <a:pt x="1913120" y="0"/>
                  </a:lnTo>
                  <a:cubicBezTo>
                    <a:pt x="1920091" y="0"/>
                    <a:pt x="1926776" y="2769"/>
                    <a:pt x="1931706" y="7698"/>
                  </a:cubicBezTo>
                  <a:cubicBezTo>
                    <a:pt x="1936635" y="12628"/>
                    <a:pt x="1939404" y="19313"/>
                    <a:pt x="1939404" y="26284"/>
                  </a:cubicBezTo>
                  <a:lnTo>
                    <a:pt x="1939404" y="974050"/>
                  </a:lnTo>
                  <a:cubicBezTo>
                    <a:pt x="1939404" y="981021"/>
                    <a:pt x="1936635" y="987706"/>
                    <a:pt x="1931706" y="992635"/>
                  </a:cubicBezTo>
                  <a:cubicBezTo>
                    <a:pt x="1926776" y="997565"/>
                    <a:pt x="1920091" y="1000334"/>
                    <a:pt x="1913120" y="1000334"/>
                  </a:cubicBezTo>
                  <a:lnTo>
                    <a:pt x="26284" y="1000334"/>
                  </a:lnTo>
                  <a:cubicBezTo>
                    <a:pt x="11768" y="1000334"/>
                    <a:pt x="0" y="988566"/>
                    <a:pt x="0" y="974050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solidFill>
              <a:srgbClr val="FF3131">
                <a:alpha val="55686"/>
              </a:srgbClr>
            </a:soli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39404" cy="102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7187" y="354957"/>
            <a:ext cx="7363675" cy="1153335"/>
            <a:chOff x="0" y="0"/>
            <a:chExt cx="1939404" cy="3037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9404" cy="303759"/>
            </a:xfrm>
            <a:custGeom>
              <a:avLst/>
              <a:gdLst/>
              <a:ahLst/>
              <a:cxnLst/>
              <a:rect r="r" b="b" t="t" l="l"/>
              <a:pathLst>
                <a:path h="303759" w="1939404">
                  <a:moveTo>
                    <a:pt x="26284" y="0"/>
                  </a:moveTo>
                  <a:lnTo>
                    <a:pt x="1913120" y="0"/>
                  </a:lnTo>
                  <a:cubicBezTo>
                    <a:pt x="1920091" y="0"/>
                    <a:pt x="1926776" y="2769"/>
                    <a:pt x="1931706" y="7698"/>
                  </a:cubicBezTo>
                  <a:cubicBezTo>
                    <a:pt x="1936635" y="12628"/>
                    <a:pt x="1939404" y="19313"/>
                    <a:pt x="1939404" y="26284"/>
                  </a:cubicBezTo>
                  <a:lnTo>
                    <a:pt x="1939404" y="277475"/>
                  </a:lnTo>
                  <a:cubicBezTo>
                    <a:pt x="1939404" y="284446"/>
                    <a:pt x="1936635" y="291131"/>
                    <a:pt x="1931706" y="296060"/>
                  </a:cubicBezTo>
                  <a:cubicBezTo>
                    <a:pt x="1926776" y="300990"/>
                    <a:pt x="1920091" y="303759"/>
                    <a:pt x="1913120" y="303759"/>
                  </a:cubicBezTo>
                  <a:lnTo>
                    <a:pt x="26284" y="303759"/>
                  </a:lnTo>
                  <a:cubicBezTo>
                    <a:pt x="11768" y="303759"/>
                    <a:pt x="0" y="291991"/>
                    <a:pt x="0" y="277475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100000"/>
                  </a:srgbClr>
                </a:gs>
                <a:gs pos="50000">
                  <a:srgbClr val="320C0D">
                    <a:alpha val="0"/>
                  </a:srgbClr>
                </a:gs>
                <a:gs pos="100000">
                  <a:srgbClr val="FF0007">
                    <a:alpha val="62000"/>
                  </a:srgbClr>
                </a:gs>
              </a:gsLst>
              <a:lin ang="0"/>
            </a:gra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939404" cy="332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7187" y="5877934"/>
            <a:ext cx="7363675" cy="1167391"/>
            <a:chOff x="0" y="0"/>
            <a:chExt cx="1939404" cy="307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39404" cy="307461"/>
            </a:xfrm>
            <a:custGeom>
              <a:avLst/>
              <a:gdLst/>
              <a:ahLst/>
              <a:cxnLst/>
              <a:rect r="r" b="b" t="t" l="l"/>
              <a:pathLst>
                <a:path h="307461" w="1939404">
                  <a:moveTo>
                    <a:pt x="26284" y="0"/>
                  </a:moveTo>
                  <a:lnTo>
                    <a:pt x="1913120" y="0"/>
                  </a:lnTo>
                  <a:cubicBezTo>
                    <a:pt x="1920091" y="0"/>
                    <a:pt x="1926776" y="2769"/>
                    <a:pt x="1931706" y="7698"/>
                  </a:cubicBezTo>
                  <a:cubicBezTo>
                    <a:pt x="1936635" y="12628"/>
                    <a:pt x="1939404" y="19313"/>
                    <a:pt x="1939404" y="26284"/>
                  </a:cubicBezTo>
                  <a:lnTo>
                    <a:pt x="1939404" y="281177"/>
                  </a:lnTo>
                  <a:cubicBezTo>
                    <a:pt x="1939404" y="295693"/>
                    <a:pt x="1927636" y="307461"/>
                    <a:pt x="1913120" y="307461"/>
                  </a:cubicBezTo>
                  <a:lnTo>
                    <a:pt x="26284" y="307461"/>
                  </a:lnTo>
                  <a:cubicBezTo>
                    <a:pt x="19313" y="307461"/>
                    <a:pt x="12628" y="304692"/>
                    <a:pt x="7698" y="299762"/>
                  </a:cubicBezTo>
                  <a:cubicBezTo>
                    <a:pt x="2769" y="294833"/>
                    <a:pt x="0" y="288148"/>
                    <a:pt x="0" y="281177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100000"/>
                  </a:srgbClr>
                </a:gs>
                <a:gs pos="50000">
                  <a:srgbClr val="320C0D">
                    <a:alpha val="0"/>
                  </a:srgbClr>
                </a:gs>
                <a:gs pos="100000">
                  <a:srgbClr val="0019FF">
                    <a:alpha val="54500"/>
                  </a:srgbClr>
                </a:gs>
              </a:gsLst>
              <a:lin ang="0"/>
            </a:gra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39404" cy="33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7187" y="7331074"/>
            <a:ext cx="7187539" cy="2481728"/>
            <a:chOff x="0" y="0"/>
            <a:chExt cx="1893014" cy="6536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93014" cy="653624"/>
            </a:xfrm>
            <a:custGeom>
              <a:avLst/>
              <a:gdLst/>
              <a:ahLst/>
              <a:cxnLst/>
              <a:rect r="r" b="b" t="t" l="l"/>
              <a:pathLst>
                <a:path h="653624" w="1893014">
                  <a:moveTo>
                    <a:pt x="26928" y="0"/>
                  </a:moveTo>
                  <a:lnTo>
                    <a:pt x="1866086" y="0"/>
                  </a:lnTo>
                  <a:cubicBezTo>
                    <a:pt x="1873228" y="0"/>
                    <a:pt x="1880077" y="2837"/>
                    <a:pt x="1885127" y="7887"/>
                  </a:cubicBezTo>
                  <a:cubicBezTo>
                    <a:pt x="1890177" y="12937"/>
                    <a:pt x="1893014" y="19786"/>
                    <a:pt x="1893014" y="26928"/>
                  </a:cubicBezTo>
                  <a:lnTo>
                    <a:pt x="1893014" y="626696"/>
                  </a:lnTo>
                  <a:cubicBezTo>
                    <a:pt x="1893014" y="633838"/>
                    <a:pt x="1890177" y="640687"/>
                    <a:pt x="1885127" y="645737"/>
                  </a:cubicBezTo>
                  <a:cubicBezTo>
                    <a:pt x="1880077" y="650787"/>
                    <a:pt x="1873228" y="653624"/>
                    <a:pt x="1866086" y="653624"/>
                  </a:cubicBezTo>
                  <a:lnTo>
                    <a:pt x="26928" y="653624"/>
                  </a:lnTo>
                  <a:cubicBezTo>
                    <a:pt x="19786" y="653624"/>
                    <a:pt x="12937" y="650787"/>
                    <a:pt x="7887" y="645737"/>
                  </a:cubicBezTo>
                  <a:cubicBezTo>
                    <a:pt x="2837" y="640687"/>
                    <a:pt x="0" y="633838"/>
                    <a:pt x="0" y="626696"/>
                  </a:cubicBezTo>
                  <a:lnTo>
                    <a:pt x="0" y="26928"/>
                  </a:lnTo>
                  <a:cubicBezTo>
                    <a:pt x="0" y="19786"/>
                    <a:pt x="2837" y="12937"/>
                    <a:pt x="7887" y="7887"/>
                  </a:cubicBezTo>
                  <a:cubicBezTo>
                    <a:pt x="12937" y="2837"/>
                    <a:pt x="19786" y="0"/>
                    <a:pt x="26928" y="0"/>
                  </a:cubicBezTo>
                  <a:close/>
                </a:path>
              </a:pathLst>
            </a:custGeom>
            <a:solidFill>
              <a:srgbClr val="FF3131">
                <a:alpha val="55686"/>
              </a:srgbClr>
            </a:soli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93014" cy="68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81079" y="2052343"/>
            <a:ext cx="7311296" cy="324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3791" indent="-221896" lvl="1">
              <a:lnSpc>
                <a:spcPts val="2877"/>
              </a:lnSpc>
              <a:buFont typeface="Arial"/>
              <a:buChar char="•"/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According to the International Diabetes </a:t>
            </a:r>
          </a:p>
          <a:p>
            <a:pPr algn="ctr">
              <a:lnSpc>
                <a:spcPts val="2877"/>
              </a:lnSpc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Federation, over 600 million adults are </a:t>
            </a:r>
          </a:p>
          <a:p>
            <a:pPr algn="ctr">
              <a:lnSpc>
                <a:spcPts val="2877"/>
              </a:lnSpc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projected to have diabetes by 2035 globally.</a:t>
            </a:r>
          </a:p>
          <a:p>
            <a:pPr algn="ctr" marL="443791" indent="-221896" lvl="1">
              <a:lnSpc>
                <a:spcPts val="2877"/>
              </a:lnSpc>
              <a:buFont typeface="Arial"/>
              <a:buChar char="•"/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Early detection is critical—80% of diabetes </a:t>
            </a:r>
          </a:p>
          <a:p>
            <a:pPr algn="ctr">
              <a:lnSpc>
                <a:spcPts val="2877"/>
              </a:lnSpc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cases remain undiagnosed,especially in</a:t>
            </a:r>
          </a:p>
          <a:p>
            <a:pPr algn="ctr">
              <a:lnSpc>
                <a:spcPts val="2877"/>
              </a:lnSpc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 low-resource settings.</a:t>
            </a:r>
          </a:p>
          <a:p>
            <a:pPr algn="ctr" marL="443791" indent="-221896" lvl="1">
              <a:lnSpc>
                <a:spcPts val="2877"/>
              </a:lnSpc>
              <a:buFont typeface="Arial"/>
              <a:buChar char="•"/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Lack of affordable, accessible screening</a:t>
            </a:r>
          </a:p>
          <a:p>
            <a:pPr algn="ctr">
              <a:lnSpc>
                <a:spcPts val="2877"/>
              </a:lnSpc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 tools hinders timely intervention </a:t>
            </a:r>
          </a:p>
          <a:p>
            <a:pPr algn="ctr">
              <a:lnSpc>
                <a:spcPts val="2877"/>
              </a:lnSpc>
            </a:pPr>
            <a:r>
              <a:rPr lang="en-US" sz="2055" spc="-4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and prevention.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3185" y="717679"/>
            <a:ext cx="7019609" cy="63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5561">
                <a:solidFill>
                  <a:srgbClr val="0901F3"/>
                </a:solidFill>
                <a:latin typeface="Gladiola"/>
                <a:ea typeface="Gladiola"/>
                <a:cs typeface="Gladiola"/>
                <a:sym typeface="Gladiola"/>
              </a:rPr>
              <a:t>Problem  Statement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3497" y="6097009"/>
            <a:ext cx="4991054" cy="67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8"/>
              </a:lnSpc>
            </a:pPr>
            <a:r>
              <a:rPr lang="en-US" sz="5848">
                <a:solidFill>
                  <a:srgbClr val="0901F3"/>
                </a:solidFill>
                <a:latin typeface="Gladiola"/>
                <a:ea typeface="Gladiola"/>
                <a:cs typeface="Gladiola"/>
                <a:sym typeface="Gladiola"/>
              </a:rPr>
              <a:t>Solution 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7187" y="7454899"/>
            <a:ext cx="6933559" cy="219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7130" indent="-148565" lvl="1">
              <a:lnSpc>
                <a:spcPts val="1926"/>
              </a:lnSpc>
              <a:buFont typeface="Arial"/>
              <a:buChar char="•"/>
            </a:pPr>
            <a:r>
              <a:rPr lang="en-US" b="true" sz="1376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Developed an AI-powered web application for personalized</a:t>
            </a:r>
          </a:p>
          <a:p>
            <a:pPr algn="ctr">
              <a:lnSpc>
                <a:spcPts val="1926"/>
              </a:lnSpc>
            </a:pPr>
            <a:r>
              <a:rPr lang="en-US" b="true" sz="1376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prediabetes and diabetes risk prediction using clinical </a:t>
            </a:r>
          </a:p>
          <a:p>
            <a:pPr algn="ctr">
              <a:lnSpc>
                <a:spcPts val="1926"/>
              </a:lnSpc>
            </a:pPr>
            <a:r>
              <a:rPr lang="en-US" b="true" sz="1376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and symptomatic data.</a:t>
            </a:r>
          </a:p>
          <a:p>
            <a:pPr algn="ctr" marL="297130" indent="-148565" lvl="1">
              <a:lnSpc>
                <a:spcPts val="1926"/>
              </a:lnSpc>
              <a:buFont typeface="Arial"/>
              <a:buChar char="•"/>
            </a:pPr>
            <a:r>
              <a:rPr lang="en-US" b="true" sz="1376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Employs a TensorFlow.js model trained on 16 health indicators </a:t>
            </a:r>
          </a:p>
          <a:p>
            <a:pPr algn="ctr">
              <a:lnSpc>
                <a:spcPts val="1926"/>
              </a:lnSpc>
            </a:pPr>
            <a:r>
              <a:rPr lang="en-US" b="true" sz="1376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correlated with diabetes risk.</a:t>
            </a:r>
          </a:p>
          <a:p>
            <a:pPr algn="ctr" marL="297130" indent="-148565" lvl="1">
              <a:lnSpc>
                <a:spcPts val="1926"/>
              </a:lnSpc>
              <a:buFont typeface="Arial"/>
              <a:buChar char="•"/>
            </a:pPr>
            <a:r>
              <a:rPr lang="en-US" b="true" sz="1376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Provides risk probability, key contributing factors, and actionable recommendations instantly.</a:t>
            </a:r>
          </a:p>
          <a:p>
            <a:pPr algn="ctr" marL="297130" indent="-148565" lvl="1">
              <a:lnSpc>
                <a:spcPts val="1926"/>
              </a:lnSpc>
              <a:buFont typeface="Arial"/>
              <a:buChar char="•"/>
            </a:pPr>
            <a:r>
              <a:rPr lang="en-US" b="true" sz="1376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Includes secure user accounts and longitudinal tracking of</a:t>
            </a:r>
          </a:p>
          <a:p>
            <a:pPr algn="ctr" marL="297130" indent="-148565" lvl="1">
              <a:lnSpc>
                <a:spcPts val="1926"/>
              </a:lnSpc>
              <a:buFont typeface="Arial"/>
              <a:buChar char="•"/>
            </a:pPr>
            <a:r>
              <a:rPr lang="en-US" b="true" sz="1376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assessments via Supabase.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6215" y="2456615"/>
            <a:ext cx="7923085" cy="6801685"/>
            <a:chOff x="0" y="0"/>
            <a:chExt cx="2086738" cy="1791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6739" cy="1791390"/>
            </a:xfrm>
            <a:custGeom>
              <a:avLst/>
              <a:gdLst/>
              <a:ahLst/>
              <a:cxnLst/>
              <a:rect r="r" b="b" t="t" l="l"/>
              <a:pathLst>
                <a:path h="1791390" w="2086739">
                  <a:moveTo>
                    <a:pt x="24428" y="0"/>
                  </a:moveTo>
                  <a:lnTo>
                    <a:pt x="2062310" y="0"/>
                  </a:lnTo>
                  <a:cubicBezTo>
                    <a:pt x="2075802" y="0"/>
                    <a:pt x="2086739" y="10937"/>
                    <a:pt x="2086739" y="24428"/>
                  </a:cubicBezTo>
                  <a:lnTo>
                    <a:pt x="2086739" y="1766962"/>
                  </a:lnTo>
                  <a:cubicBezTo>
                    <a:pt x="2086739" y="1780453"/>
                    <a:pt x="2075802" y="1791390"/>
                    <a:pt x="2062310" y="1791390"/>
                  </a:cubicBezTo>
                  <a:lnTo>
                    <a:pt x="24428" y="1791390"/>
                  </a:lnTo>
                  <a:cubicBezTo>
                    <a:pt x="10937" y="1791390"/>
                    <a:pt x="0" y="1780453"/>
                    <a:pt x="0" y="1766962"/>
                  </a:cubicBezTo>
                  <a:lnTo>
                    <a:pt x="0" y="24428"/>
                  </a:lnTo>
                  <a:cubicBezTo>
                    <a:pt x="0" y="10937"/>
                    <a:pt x="10937" y="0"/>
                    <a:pt x="24428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86738" cy="1819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06704" y="3666521"/>
            <a:ext cx="585671" cy="585671"/>
          </a:xfrm>
          <a:custGeom>
            <a:avLst/>
            <a:gdLst/>
            <a:ahLst/>
            <a:cxnLst/>
            <a:rect r="r" b="b" t="t" l="l"/>
            <a:pathLst>
              <a:path h="585671" w="585671">
                <a:moveTo>
                  <a:pt x="0" y="0"/>
                </a:moveTo>
                <a:lnTo>
                  <a:pt x="585671" y="0"/>
                </a:lnTo>
                <a:lnTo>
                  <a:pt x="585671" y="585671"/>
                </a:lnTo>
                <a:lnTo>
                  <a:pt x="0" y="58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34534" y="4252192"/>
            <a:ext cx="6665355" cy="2705839"/>
            <a:chOff x="0" y="0"/>
            <a:chExt cx="1032638" cy="419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638" cy="419205"/>
            </a:xfrm>
            <a:custGeom>
              <a:avLst/>
              <a:gdLst/>
              <a:ahLst/>
              <a:cxnLst/>
              <a:rect r="r" b="b" t="t" l="l"/>
              <a:pathLst>
                <a:path h="419205" w="1032638">
                  <a:moveTo>
                    <a:pt x="29038" y="0"/>
                  </a:moveTo>
                  <a:lnTo>
                    <a:pt x="1003600" y="0"/>
                  </a:lnTo>
                  <a:cubicBezTo>
                    <a:pt x="1019637" y="0"/>
                    <a:pt x="1032638" y="13001"/>
                    <a:pt x="1032638" y="29038"/>
                  </a:cubicBezTo>
                  <a:lnTo>
                    <a:pt x="1032638" y="390167"/>
                  </a:lnTo>
                  <a:cubicBezTo>
                    <a:pt x="1032638" y="397869"/>
                    <a:pt x="1029579" y="405255"/>
                    <a:pt x="1024133" y="410700"/>
                  </a:cubicBezTo>
                  <a:cubicBezTo>
                    <a:pt x="1018687" y="416146"/>
                    <a:pt x="1011301" y="419205"/>
                    <a:pt x="1003600" y="419205"/>
                  </a:cubicBezTo>
                  <a:lnTo>
                    <a:pt x="29038" y="419205"/>
                  </a:lnTo>
                  <a:cubicBezTo>
                    <a:pt x="13001" y="419205"/>
                    <a:pt x="0" y="406205"/>
                    <a:pt x="0" y="390167"/>
                  </a:cubicBezTo>
                  <a:lnTo>
                    <a:pt x="0" y="29038"/>
                  </a:lnTo>
                  <a:cubicBezTo>
                    <a:pt x="0" y="21337"/>
                    <a:pt x="3059" y="13951"/>
                    <a:pt x="8505" y="8505"/>
                  </a:cubicBezTo>
                  <a:cubicBezTo>
                    <a:pt x="13951" y="3059"/>
                    <a:pt x="21337" y="0"/>
                    <a:pt x="290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98" r="0" b="-432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5865" y="4252192"/>
            <a:ext cx="7363675" cy="5342083"/>
            <a:chOff x="0" y="0"/>
            <a:chExt cx="1140826" cy="8276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826" cy="827628"/>
            </a:xfrm>
            <a:custGeom>
              <a:avLst/>
              <a:gdLst/>
              <a:ahLst/>
              <a:cxnLst/>
              <a:rect r="r" b="b" t="t" l="l"/>
              <a:pathLst>
                <a:path h="827628" w="1140826">
                  <a:moveTo>
                    <a:pt x="26284" y="0"/>
                  </a:moveTo>
                  <a:lnTo>
                    <a:pt x="1114542" y="0"/>
                  </a:lnTo>
                  <a:cubicBezTo>
                    <a:pt x="1121513" y="0"/>
                    <a:pt x="1128198" y="2769"/>
                    <a:pt x="1133127" y="7698"/>
                  </a:cubicBezTo>
                  <a:cubicBezTo>
                    <a:pt x="1138057" y="12628"/>
                    <a:pt x="1140826" y="19313"/>
                    <a:pt x="1140826" y="26284"/>
                  </a:cubicBezTo>
                  <a:lnTo>
                    <a:pt x="1140826" y="801344"/>
                  </a:lnTo>
                  <a:cubicBezTo>
                    <a:pt x="1140826" y="815861"/>
                    <a:pt x="1129058" y="827628"/>
                    <a:pt x="1114542" y="827628"/>
                  </a:cubicBezTo>
                  <a:lnTo>
                    <a:pt x="26284" y="827628"/>
                  </a:lnTo>
                  <a:cubicBezTo>
                    <a:pt x="19313" y="827628"/>
                    <a:pt x="12628" y="824859"/>
                    <a:pt x="7698" y="819930"/>
                  </a:cubicBezTo>
                  <a:cubicBezTo>
                    <a:pt x="2769" y="815001"/>
                    <a:pt x="0" y="808315"/>
                    <a:pt x="0" y="801344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921" r="0" b="-1892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93187" y="-179938"/>
            <a:ext cx="18474375" cy="10646876"/>
          </a:xfrm>
          <a:custGeom>
            <a:avLst/>
            <a:gdLst/>
            <a:ahLst/>
            <a:cxnLst/>
            <a:rect r="r" b="b" t="t" l="l"/>
            <a:pathLst>
              <a:path h="10646876" w="18474375">
                <a:moveTo>
                  <a:pt x="0" y="0"/>
                </a:moveTo>
                <a:lnTo>
                  <a:pt x="18474374" y="0"/>
                </a:lnTo>
                <a:lnTo>
                  <a:pt x="18474374" y="10646876"/>
                </a:lnTo>
                <a:lnTo>
                  <a:pt x="0" y="1064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7" t="0" r="-1227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144000" y="2456615"/>
            <a:ext cx="1756704" cy="1795576"/>
            <a:chOff x="0" y="0"/>
            <a:chExt cx="462671" cy="4729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2671" cy="472909"/>
            </a:xfrm>
            <a:custGeom>
              <a:avLst/>
              <a:gdLst/>
              <a:ahLst/>
              <a:cxnLst/>
              <a:rect r="r" b="b" t="t" l="l"/>
              <a:pathLst>
                <a:path h="472909" w="462671">
                  <a:moveTo>
                    <a:pt x="231335" y="0"/>
                  </a:moveTo>
                  <a:lnTo>
                    <a:pt x="231335" y="0"/>
                  </a:lnTo>
                  <a:cubicBezTo>
                    <a:pt x="292689" y="0"/>
                    <a:pt x="351531" y="24373"/>
                    <a:pt x="394914" y="67757"/>
                  </a:cubicBezTo>
                  <a:cubicBezTo>
                    <a:pt x="438298" y="111140"/>
                    <a:pt x="462671" y="169981"/>
                    <a:pt x="462671" y="231335"/>
                  </a:cubicBezTo>
                  <a:lnTo>
                    <a:pt x="462671" y="241574"/>
                  </a:lnTo>
                  <a:cubicBezTo>
                    <a:pt x="462671" y="369337"/>
                    <a:pt x="359099" y="472909"/>
                    <a:pt x="231335" y="472909"/>
                  </a:cubicBezTo>
                  <a:lnTo>
                    <a:pt x="231335" y="472909"/>
                  </a:lnTo>
                  <a:cubicBezTo>
                    <a:pt x="169981" y="472909"/>
                    <a:pt x="111140" y="448536"/>
                    <a:pt x="67757" y="405152"/>
                  </a:cubicBezTo>
                  <a:cubicBezTo>
                    <a:pt x="24373" y="361769"/>
                    <a:pt x="0" y="302927"/>
                    <a:pt x="0" y="241574"/>
                  </a:cubicBezTo>
                  <a:lnTo>
                    <a:pt x="0" y="231335"/>
                  </a:lnTo>
                  <a:cubicBezTo>
                    <a:pt x="0" y="103572"/>
                    <a:pt x="103572" y="0"/>
                    <a:pt x="2313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0094FF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62671" cy="50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840549" y="4252192"/>
            <a:ext cx="12606902" cy="3444456"/>
          </a:xfrm>
          <a:custGeom>
            <a:avLst/>
            <a:gdLst/>
            <a:ahLst/>
            <a:cxnLst/>
            <a:rect r="r" b="b" t="t" l="l"/>
            <a:pathLst>
              <a:path h="3444456" w="12606902">
                <a:moveTo>
                  <a:pt x="0" y="0"/>
                </a:moveTo>
                <a:lnTo>
                  <a:pt x="12606902" y="0"/>
                </a:lnTo>
                <a:lnTo>
                  <a:pt x="12606902" y="3444456"/>
                </a:lnTo>
                <a:lnTo>
                  <a:pt x="0" y="3444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0000" r="-3605" b="-115603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624005" y="2393098"/>
            <a:ext cx="1515629" cy="1859094"/>
            <a:chOff x="0" y="0"/>
            <a:chExt cx="399178" cy="4896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9178" cy="489638"/>
            </a:xfrm>
            <a:custGeom>
              <a:avLst/>
              <a:gdLst/>
              <a:ahLst/>
              <a:cxnLst/>
              <a:rect r="r" b="b" t="t" l="l"/>
              <a:pathLst>
                <a:path h="489638" w="399178">
                  <a:moveTo>
                    <a:pt x="199589" y="0"/>
                  </a:moveTo>
                  <a:lnTo>
                    <a:pt x="199589" y="0"/>
                  </a:lnTo>
                  <a:cubicBezTo>
                    <a:pt x="252523" y="0"/>
                    <a:pt x="303290" y="21028"/>
                    <a:pt x="340720" y="58458"/>
                  </a:cubicBezTo>
                  <a:cubicBezTo>
                    <a:pt x="378150" y="95888"/>
                    <a:pt x="399178" y="146655"/>
                    <a:pt x="399178" y="199589"/>
                  </a:cubicBezTo>
                  <a:lnTo>
                    <a:pt x="399178" y="290049"/>
                  </a:lnTo>
                  <a:cubicBezTo>
                    <a:pt x="399178" y="342983"/>
                    <a:pt x="378150" y="393749"/>
                    <a:pt x="340720" y="431180"/>
                  </a:cubicBezTo>
                  <a:cubicBezTo>
                    <a:pt x="303290" y="468610"/>
                    <a:pt x="252523" y="489638"/>
                    <a:pt x="199589" y="489638"/>
                  </a:cubicBezTo>
                  <a:lnTo>
                    <a:pt x="199589" y="489638"/>
                  </a:lnTo>
                  <a:cubicBezTo>
                    <a:pt x="146655" y="489638"/>
                    <a:pt x="95888" y="468610"/>
                    <a:pt x="58458" y="431180"/>
                  </a:cubicBezTo>
                  <a:cubicBezTo>
                    <a:pt x="21028" y="393749"/>
                    <a:pt x="0" y="342983"/>
                    <a:pt x="0" y="290049"/>
                  </a:cubicBezTo>
                  <a:lnTo>
                    <a:pt x="0" y="199589"/>
                  </a:lnTo>
                  <a:cubicBezTo>
                    <a:pt x="0" y="146655"/>
                    <a:pt x="21028" y="95888"/>
                    <a:pt x="58458" y="58458"/>
                  </a:cubicBezTo>
                  <a:cubicBezTo>
                    <a:pt x="95888" y="21028"/>
                    <a:pt x="146655" y="0"/>
                    <a:pt x="1995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50000">
                  <a:srgbClr val="320C0D">
                    <a:alpha val="0"/>
                  </a:srgbClr>
                </a:gs>
                <a:gs pos="100000">
                  <a:srgbClr val="FFCF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99178" cy="518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624005" y="2547071"/>
            <a:ext cx="1503740" cy="145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 fills out and submits health assessment form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78520" y="7504574"/>
            <a:ext cx="1574023" cy="2095480"/>
            <a:chOff x="0" y="0"/>
            <a:chExt cx="414558" cy="551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4558" cy="551896"/>
            </a:xfrm>
            <a:custGeom>
              <a:avLst/>
              <a:gdLst/>
              <a:ahLst/>
              <a:cxnLst/>
              <a:rect r="r" b="b" t="t" l="l"/>
              <a:pathLst>
                <a:path h="551896" w="414558">
                  <a:moveTo>
                    <a:pt x="207279" y="0"/>
                  </a:moveTo>
                  <a:lnTo>
                    <a:pt x="207279" y="0"/>
                  </a:lnTo>
                  <a:cubicBezTo>
                    <a:pt x="321756" y="0"/>
                    <a:pt x="414558" y="92802"/>
                    <a:pt x="414558" y="207279"/>
                  </a:cubicBezTo>
                  <a:lnTo>
                    <a:pt x="414558" y="344617"/>
                  </a:lnTo>
                  <a:cubicBezTo>
                    <a:pt x="414558" y="459094"/>
                    <a:pt x="321756" y="551896"/>
                    <a:pt x="207279" y="551896"/>
                  </a:cubicBezTo>
                  <a:lnTo>
                    <a:pt x="207279" y="551896"/>
                  </a:lnTo>
                  <a:cubicBezTo>
                    <a:pt x="92802" y="551896"/>
                    <a:pt x="0" y="459094"/>
                    <a:pt x="0" y="344617"/>
                  </a:cubicBezTo>
                  <a:lnTo>
                    <a:pt x="0" y="207279"/>
                  </a:lnTo>
                  <a:cubicBezTo>
                    <a:pt x="0" y="92802"/>
                    <a:pt x="92802" y="0"/>
                    <a:pt x="2072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C520FF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14558" cy="580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41615" y="7760090"/>
            <a:ext cx="1503740" cy="145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Numeric result converted to resk percentage and category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438970" y="7481906"/>
            <a:ext cx="1872850" cy="1926075"/>
            <a:chOff x="0" y="0"/>
            <a:chExt cx="493261" cy="5072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261" cy="507279"/>
            </a:xfrm>
            <a:custGeom>
              <a:avLst/>
              <a:gdLst/>
              <a:ahLst/>
              <a:cxnLst/>
              <a:rect r="r" b="b" t="t" l="l"/>
              <a:pathLst>
                <a:path h="507279" w="493261">
                  <a:moveTo>
                    <a:pt x="246630" y="0"/>
                  </a:moveTo>
                  <a:lnTo>
                    <a:pt x="246630" y="0"/>
                  </a:lnTo>
                  <a:cubicBezTo>
                    <a:pt x="382841" y="0"/>
                    <a:pt x="493261" y="110420"/>
                    <a:pt x="493261" y="246630"/>
                  </a:cubicBezTo>
                  <a:lnTo>
                    <a:pt x="493261" y="260648"/>
                  </a:lnTo>
                  <a:cubicBezTo>
                    <a:pt x="493261" y="326059"/>
                    <a:pt x="467277" y="388790"/>
                    <a:pt x="421025" y="435043"/>
                  </a:cubicBezTo>
                  <a:cubicBezTo>
                    <a:pt x="374772" y="481295"/>
                    <a:pt x="312041" y="507279"/>
                    <a:pt x="246630" y="507279"/>
                  </a:cubicBezTo>
                  <a:lnTo>
                    <a:pt x="246630" y="507279"/>
                  </a:lnTo>
                  <a:cubicBezTo>
                    <a:pt x="110420" y="507279"/>
                    <a:pt x="0" y="396859"/>
                    <a:pt x="0" y="260648"/>
                  </a:cubicBezTo>
                  <a:lnTo>
                    <a:pt x="0" y="246630"/>
                  </a:lnTo>
                  <a:cubicBezTo>
                    <a:pt x="0" y="181220"/>
                    <a:pt x="25984" y="118489"/>
                    <a:pt x="72236" y="72236"/>
                  </a:cubicBezTo>
                  <a:cubicBezTo>
                    <a:pt x="118489" y="25984"/>
                    <a:pt x="181220" y="0"/>
                    <a:pt x="2466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FF36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261" cy="535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598530" y="7906198"/>
            <a:ext cx="1503740" cy="116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App validates required fields; show error if incomplete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243604" y="2456615"/>
            <a:ext cx="1672957" cy="1992403"/>
            <a:chOff x="0" y="0"/>
            <a:chExt cx="440614" cy="5247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0614" cy="524748"/>
            </a:xfrm>
            <a:custGeom>
              <a:avLst/>
              <a:gdLst/>
              <a:ahLst/>
              <a:cxnLst/>
              <a:rect r="r" b="b" t="t" l="l"/>
              <a:pathLst>
                <a:path h="524748" w="440614">
                  <a:moveTo>
                    <a:pt x="220307" y="0"/>
                  </a:moveTo>
                  <a:lnTo>
                    <a:pt x="220307" y="0"/>
                  </a:lnTo>
                  <a:cubicBezTo>
                    <a:pt x="341979" y="0"/>
                    <a:pt x="440614" y="98635"/>
                    <a:pt x="440614" y="220307"/>
                  </a:cubicBezTo>
                  <a:lnTo>
                    <a:pt x="440614" y="304441"/>
                  </a:lnTo>
                  <a:cubicBezTo>
                    <a:pt x="440614" y="426113"/>
                    <a:pt x="341979" y="524748"/>
                    <a:pt x="220307" y="524748"/>
                  </a:cubicBezTo>
                  <a:lnTo>
                    <a:pt x="220307" y="524748"/>
                  </a:lnTo>
                  <a:cubicBezTo>
                    <a:pt x="98635" y="524748"/>
                    <a:pt x="0" y="426113"/>
                    <a:pt x="0" y="304441"/>
                  </a:cubicBezTo>
                  <a:lnTo>
                    <a:pt x="0" y="220307"/>
                  </a:lnTo>
                  <a:cubicBezTo>
                    <a:pt x="0" y="98635"/>
                    <a:pt x="98635" y="0"/>
                    <a:pt x="2203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50000">
                  <a:srgbClr val="320C0D">
                    <a:alpha val="0"/>
                  </a:srgbClr>
                </a:gs>
                <a:gs pos="100000">
                  <a:srgbClr val="0019FF">
                    <a:alpha val="3052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40614" cy="553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328213" y="2559050"/>
            <a:ext cx="1503740" cy="174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assessment data and results saved in database if user authenticated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2664" y="2547071"/>
            <a:ext cx="1503740" cy="145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Prediction results, symptoms, and recommendations displayed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393485" y="2393098"/>
            <a:ext cx="1503740" cy="1859094"/>
            <a:chOff x="0" y="0"/>
            <a:chExt cx="396047" cy="4896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6047" cy="489638"/>
            </a:xfrm>
            <a:custGeom>
              <a:avLst/>
              <a:gdLst/>
              <a:ahLst/>
              <a:cxnLst/>
              <a:rect r="r" b="b" t="t" l="l"/>
              <a:pathLst>
                <a:path h="489638" w="396047">
                  <a:moveTo>
                    <a:pt x="198023" y="0"/>
                  </a:moveTo>
                  <a:lnTo>
                    <a:pt x="198023" y="0"/>
                  </a:lnTo>
                  <a:cubicBezTo>
                    <a:pt x="307389" y="0"/>
                    <a:pt x="396047" y="88658"/>
                    <a:pt x="396047" y="198023"/>
                  </a:cubicBezTo>
                  <a:lnTo>
                    <a:pt x="396047" y="291615"/>
                  </a:lnTo>
                  <a:cubicBezTo>
                    <a:pt x="396047" y="400980"/>
                    <a:pt x="307389" y="489638"/>
                    <a:pt x="198023" y="489638"/>
                  </a:cubicBezTo>
                  <a:lnTo>
                    <a:pt x="198023" y="489638"/>
                  </a:lnTo>
                  <a:cubicBezTo>
                    <a:pt x="88658" y="489638"/>
                    <a:pt x="0" y="400980"/>
                    <a:pt x="0" y="291615"/>
                  </a:cubicBezTo>
                  <a:lnTo>
                    <a:pt x="0" y="198023"/>
                  </a:lnTo>
                  <a:cubicBezTo>
                    <a:pt x="0" y="88658"/>
                    <a:pt x="88658" y="0"/>
                    <a:pt x="1980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C520FF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96047" cy="518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393485" y="2547071"/>
            <a:ext cx="1503740" cy="145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Prediction result sent to external webhook via HTTP POST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508745" y="2393098"/>
            <a:ext cx="1675190" cy="1859094"/>
            <a:chOff x="0" y="0"/>
            <a:chExt cx="441202" cy="4896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1202" cy="489638"/>
            </a:xfrm>
            <a:custGeom>
              <a:avLst/>
              <a:gdLst/>
              <a:ahLst/>
              <a:cxnLst/>
              <a:rect r="r" b="b" t="t" l="l"/>
              <a:pathLst>
                <a:path h="489638" w="441202">
                  <a:moveTo>
                    <a:pt x="220601" y="0"/>
                  </a:moveTo>
                  <a:lnTo>
                    <a:pt x="220601" y="0"/>
                  </a:lnTo>
                  <a:cubicBezTo>
                    <a:pt x="279108" y="0"/>
                    <a:pt x="335219" y="23242"/>
                    <a:pt x="376590" y="64613"/>
                  </a:cubicBezTo>
                  <a:cubicBezTo>
                    <a:pt x="417960" y="105983"/>
                    <a:pt x="441202" y="162094"/>
                    <a:pt x="441202" y="220601"/>
                  </a:cubicBezTo>
                  <a:lnTo>
                    <a:pt x="441202" y="269037"/>
                  </a:lnTo>
                  <a:cubicBezTo>
                    <a:pt x="441202" y="390871"/>
                    <a:pt x="342436" y="489638"/>
                    <a:pt x="220601" y="489638"/>
                  </a:cubicBezTo>
                  <a:lnTo>
                    <a:pt x="220601" y="489638"/>
                  </a:lnTo>
                  <a:cubicBezTo>
                    <a:pt x="98766" y="489638"/>
                    <a:pt x="0" y="390871"/>
                    <a:pt x="0" y="269037"/>
                  </a:cubicBezTo>
                  <a:lnTo>
                    <a:pt x="0" y="220601"/>
                  </a:lnTo>
                  <a:cubicBezTo>
                    <a:pt x="0" y="98766"/>
                    <a:pt x="98766" y="0"/>
                    <a:pt x="2206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FF36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41202" cy="518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508745" y="2547071"/>
            <a:ext cx="1503740" cy="145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Form data converted and proceed by TensorFlow.js model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628793" y="7579729"/>
            <a:ext cx="1503740" cy="1899833"/>
            <a:chOff x="0" y="0"/>
            <a:chExt cx="396047" cy="500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6047" cy="500368"/>
            </a:xfrm>
            <a:custGeom>
              <a:avLst/>
              <a:gdLst/>
              <a:ahLst/>
              <a:cxnLst/>
              <a:rect r="r" b="b" t="t" l="l"/>
              <a:pathLst>
                <a:path h="500368" w="396047">
                  <a:moveTo>
                    <a:pt x="198023" y="0"/>
                  </a:moveTo>
                  <a:lnTo>
                    <a:pt x="198023" y="0"/>
                  </a:lnTo>
                  <a:cubicBezTo>
                    <a:pt x="307389" y="0"/>
                    <a:pt x="396047" y="88658"/>
                    <a:pt x="396047" y="198023"/>
                  </a:cubicBezTo>
                  <a:lnTo>
                    <a:pt x="396047" y="302344"/>
                  </a:lnTo>
                  <a:cubicBezTo>
                    <a:pt x="396047" y="411710"/>
                    <a:pt x="307389" y="500368"/>
                    <a:pt x="198023" y="500368"/>
                  </a:cubicBezTo>
                  <a:lnTo>
                    <a:pt x="198023" y="500368"/>
                  </a:lnTo>
                  <a:cubicBezTo>
                    <a:pt x="88658" y="500368"/>
                    <a:pt x="0" y="411710"/>
                    <a:pt x="0" y="302344"/>
                  </a:cubicBezTo>
                  <a:lnTo>
                    <a:pt x="0" y="198023"/>
                  </a:lnTo>
                  <a:cubicBezTo>
                    <a:pt x="0" y="88658"/>
                    <a:pt x="88658" y="0"/>
                    <a:pt x="1980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50000">
                  <a:srgbClr val="320C0D">
                    <a:alpha val="0"/>
                  </a:srgbClr>
                </a:gs>
                <a:gs pos="100000">
                  <a:srgbClr val="0019FF">
                    <a:alpha val="3052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96047" cy="528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628793" y="7928095"/>
            <a:ext cx="1503740" cy="116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app captures and display webhook response text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608783" y="7725837"/>
            <a:ext cx="1503740" cy="1753726"/>
            <a:chOff x="0" y="0"/>
            <a:chExt cx="396047" cy="46188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6047" cy="461887"/>
            </a:xfrm>
            <a:custGeom>
              <a:avLst/>
              <a:gdLst/>
              <a:ahLst/>
              <a:cxnLst/>
              <a:rect r="r" b="b" t="t" l="l"/>
              <a:pathLst>
                <a:path h="461887" w="396047">
                  <a:moveTo>
                    <a:pt x="198023" y="0"/>
                  </a:moveTo>
                  <a:lnTo>
                    <a:pt x="198023" y="0"/>
                  </a:lnTo>
                  <a:cubicBezTo>
                    <a:pt x="307389" y="0"/>
                    <a:pt x="396047" y="88658"/>
                    <a:pt x="396047" y="198023"/>
                  </a:cubicBezTo>
                  <a:lnTo>
                    <a:pt x="396047" y="263863"/>
                  </a:lnTo>
                  <a:cubicBezTo>
                    <a:pt x="396047" y="373229"/>
                    <a:pt x="307389" y="461887"/>
                    <a:pt x="198023" y="461887"/>
                  </a:cubicBezTo>
                  <a:lnTo>
                    <a:pt x="198023" y="461887"/>
                  </a:lnTo>
                  <a:cubicBezTo>
                    <a:pt x="88658" y="461887"/>
                    <a:pt x="0" y="373229"/>
                    <a:pt x="0" y="263863"/>
                  </a:cubicBezTo>
                  <a:lnTo>
                    <a:pt x="0" y="198023"/>
                  </a:lnTo>
                  <a:cubicBezTo>
                    <a:pt x="0" y="88658"/>
                    <a:pt x="88658" y="0"/>
                    <a:pt x="1980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0094FF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96047" cy="490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618308" y="7906198"/>
            <a:ext cx="1503740" cy="116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 can connect to professionals in the field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380054" y="7481906"/>
            <a:ext cx="1912624" cy="2095480"/>
            <a:chOff x="0" y="0"/>
            <a:chExt cx="503736" cy="5518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3737" cy="551896"/>
            </a:xfrm>
            <a:custGeom>
              <a:avLst/>
              <a:gdLst/>
              <a:ahLst/>
              <a:cxnLst/>
              <a:rect r="r" b="b" t="t" l="l"/>
              <a:pathLst>
                <a:path h="551896" w="503737">
                  <a:moveTo>
                    <a:pt x="251868" y="0"/>
                  </a:moveTo>
                  <a:lnTo>
                    <a:pt x="251868" y="0"/>
                  </a:lnTo>
                  <a:cubicBezTo>
                    <a:pt x="390971" y="0"/>
                    <a:pt x="503737" y="112765"/>
                    <a:pt x="503737" y="251868"/>
                  </a:cubicBezTo>
                  <a:lnTo>
                    <a:pt x="503737" y="300028"/>
                  </a:lnTo>
                  <a:cubicBezTo>
                    <a:pt x="503737" y="366827"/>
                    <a:pt x="477200" y="430891"/>
                    <a:pt x="429966" y="478126"/>
                  </a:cubicBezTo>
                  <a:cubicBezTo>
                    <a:pt x="382732" y="525360"/>
                    <a:pt x="318668" y="551896"/>
                    <a:pt x="251868" y="551896"/>
                  </a:cubicBezTo>
                  <a:lnTo>
                    <a:pt x="251868" y="551896"/>
                  </a:lnTo>
                  <a:cubicBezTo>
                    <a:pt x="112765" y="551896"/>
                    <a:pt x="0" y="439131"/>
                    <a:pt x="0" y="300028"/>
                  </a:cubicBezTo>
                  <a:lnTo>
                    <a:pt x="0" y="251868"/>
                  </a:lnTo>
                  <a:cubicBezTo>
                    <a:pt x="0" y="185069"/>
                    <a:pt x="26536" y="121005"/>
                    <a:pt x="73771" y="73771"/>
                  </a:cubicBezTo>
                  <a:cubicBezTo>
                    <a:pt x="121005" y="26536"/>
                    <a:pt x="185069" y="0"/>
                    <a:pt x="2518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50000">
                  <a:srgbClr val="320C0D">
                    <a:alpha val="0"/>
                  </a:srgbClr>
                </a:gs>
                <a:gs pos="100000">
                  <a:srgbClr val="59FF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503736" cy="580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615342" y="7658548"/>
            <a:ext cx="1503740" cy="174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Success/error notifications and smooth scrolling for user experience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317674" y="289681"/>
            <a:ext cx="8149401" cy="177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0"/>
              </a:lnSpc>
              <a:spcBef>
                <a:spcPct val="0"/>
              </a:spcBef>
            </a:pPr>
            <a:r>
              <a:rPr lang="en-US" sz="10671" spc="-21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How it works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6215" y="2456615"/>
            <a:ext cx="7923085" cy="6801685"/>
            <a:chOff x="0" y="0"/>
            <a:chExt cx="2086738" cy="1791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6739" cy="1791390"/>
            </a:xfrm>
            <a:custGeom>
              <a:avLst/>
              <a:gdLst/>
              <a:ahLst/>
              <a:cxnLst/>
              <a:rect r="r" b="b" t="t" l="l"/>
              <a:pathLst>
                <a:path h="1791390" w="2086739">
                  <a:moveTo>
                    <a:pt x="24428" y="0"/>
                  </a:moveTo>
                  <a:lnTo>
                    <a:pt x="2062310" y="0"/>
                  </a:lnTo>
                  <a:cubicBezTo>
                    <a:pt x="2075802" y="0"/>
                    <a:pt x="2086739" y="10937"/>
                    <a:pt x="2086739" y="24428"/>
                  </a:cubicBezTo>
                  <a:lnTo>
                    <a:pt x="2086739" y="1766962"/>
                  </a:lnTo>
                  <a:cubicBezTo>
                    <a:pt x="2086739" y="1780453"/>
                    <a:pt x="2075802" y="1791390"/>
                    <a:pt x="2062310" y="1791390"/>
                  </a:cubicBezTo>
                  <a:lnTo>
                    <a:pt x="24428" y="1791390"/>
                  </a:lnTo>
                  <a:cubicBezTo>
                    <a:pt x="10937" y="1791390"/>
                    <a:pt x="0" y="1780453"/>
                    <a:pt x="0" y="1766962"/>
                  </a:cubicBezTo>
                  <a:lnTo>
                    <a:pt x="0" y="24428"/>
                  </a:lnTo>
                  <a:cubicBezTo>
                    <a:pt x="0" y="10937"/>
                    <a:pt x="10937" y="0"/>
                    <a:pt x="24428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86738" cy="1819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06704" y="3666521"/>
            <a:ext cx="585671" cy="585671"/>
          </a:xfrm>
          <a:custGeom>
            <a:avLst/>
            <a:gdLst/>
            <a:ahLst/>
            <a:cxnLst/>
            <a:rect r="r" b="b" t="t" l="l"/>
            <a:pathLst>
              <a:path h="585671" w="585671">
                <a:moveTo>
                  <a:pt x="0" y="0"/>
                </a:moveTo>
                <a:lnTo>
                  <a:pt x="585671" y="0"/>
                </a:lnTo>
                <a:lnTo>
                  <a:pt x="585671" y="585671"/>
                </a:lnTo>
                <a:lnTo>
                  <a:pt x="0" y="58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34534" y="4252192"/>
            <a:ext cx="6665355" cy="2705839"/>
            <a:chOff x="0" y="0"/>
            <a:chExt cx="1032638" cy="419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638" cy="419205"/>
            </a:xfrm>
            <a:custGeom>
              <a:avLst/>
              <a:gdLst/>
              <a:ahLst/>
              <a:cxnLst/>
              <a:rect r="r" b="b" t="t" l="l"/>
              <a:pathLst>
                <a:path h="419205" w="1032638">
                  <a:moveTo>
                    <a:pt x="29038" y="0"/>
                  </a:moveTo>
                  <a:lnTo>
                    <a:pt x="1003600" y="0"/>
                  </a:lnTo>
                  <a:cubicBezTo>
                    <a:pt x="1019637" y="0"/>
                    <a:pt x="1032638" y="13001"/>
                    <a:pt x="1032638" y="29038"/>
                  </a:cubicBezTo>
                  <a:lnTo>
                    <a:pt x="1032638" y="390167"/>
                  </a:lnTo>
                  <a:cubicBezTo>
                    <a:pt x="1032638" y="397869"/>
                    <a:pt x="1029579" y="405255"/>
                    <a:pt x="1024133" y="410700"/>
                  </a:cubicBezTo>
                  <a:cubicBezTo>
                    <a:pt x="1018687" y="416146"/>
                    <a:pt x="1011301" y="419205"/>
                    <a:pt x="1003600" y="419205"/>
                  </a:cubicBezTo>
                  <a:lnTo>
                    <a:pt x="29038" y="419205"/>
                  </a:lnTo>
                  <a:cubicBezTo>
                    <a:pt x="13001" y="419205"/>
                    <a:pt x="0" y="406205"/>
                    <a:pt x="0" y="390167"/>
                  </a:cubicBezTo>
                  <a:lnTo>
                    <a:pt x="0" y="29038"/>
                  </a:lnTo>
                  <a:cubicBezTo>
                    <a:pt x="0" y="21337"/>
                    <a:pt x="3059" y="13951"/>
                    <a:pt x="8505" y="8505"/>
                  </a:cubicBezTo>
                  <a:cubicBezTo>
                    <a:pt x="13951" y="3059"/>
                    <a:pt x="21337" y="0"/>
                    <a:pt x="290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98" r="0" b="-432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5865" y="4252192"/>
            <a:ext cx="7363675" cy="5342083"/>
            <a:chOff x="0" y="0"/>
            <a:chExt cx="1140826" cy="8276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826" cy="827628"/>
            </a:xfrm>
            <a:custGeom>
              <a:avLst/>
              <a:gdLst/>
              <a:ahLst/>
              <a:cxnLst/>
              <a:rect r="r" b="b" t="t" l="l"/>
              <a:pathLst>
                <a:path h="827628" w="1140826">
                  <a:moveTo>
                    <a:pt x="26284" y="0"/>
                  </a:moveTo>
                  <a:lnTo>
                    <a:pt x="1114542" y="0"/>
                  </a:lnTo>
                  <a:cubicBezTo>
                    <a:pt x="1121513" y="0"/>
                    <a:pt x="1128198" y="2769"/>
                    <a:pt x="1133127" y="7698"/>
                  </a:cubicBezTo>
                  <a:cubicBezTo>
                    <a:pt x="1138057" y="12628"/>
                    <a:pt x="1140826" y="19313"/>
                    <a:pt x="1140826" y="26284"/>
                  </a:cubicBezTo>
                  <a:lnTo>
                    <a:pt x="1140826" y="801344"/>
                  </a:lnTo>
                  <a:cubicBezTo>
                    <a:pt x="1140826" y="815861"/>
                    <a:pt x="1129058" y="827628"/>
                    <a:pt x="1114542" y="827628"/>
                  </a:cubicBezTo>
                  <a:lnTo>
                    <a:pt x="26284" y="827628"/>
                  </a:lnTo>
                  <a:cubicBezTo>
                    <a:pt x="19313" y="827628"/>
                    <a:pt x="12628" y="824859"/>
                    <a:pt x="7698" y="819930"/>
                  </a:cubicBezTo>
                  <a:cubicBezTo>
                    <a:pt x="2769" y="815001"/>
                    <a:pt x="0" y="808315"/>
                    <a:pt x="0" y="801344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921" r="0" b="-1892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93187" y="-179938"/>
            <a:ext cx="18474375" cy="10646876"/>
          </a:xfrm>
          <a:custGeom>
            <a:avLst/>
            <a:gdLst/>
            <a:ahLst/>
            <a:cxnLst/>
            <a:rect r="r" b="b" t="t" l="l"/>
            <a:pathLst>
              <a:path h="10646876" w="18474375">
                <a:moveTo>
                  <a:pt x="0" y="0"/>
                </a:moveTo>
                <a:lnTo>
                  <a:pt x="18474374" y="0"/>
                </a:lnTo>
                <a:lnTo>
                  <a:pt x="18474374" y="10646876"/>
                </a:lnTo>
                <a:lnTo>
                  <a:pt x="0" y="1064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7" t="0" r="-1227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78111" y="1734601"/>
            <a:ext cx="17348400" cy="6817799"/>
            <a:chOff x="0" y="0"/>
            <a:chExt cx="4569126" cy="17956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69126" cy="1795634"/>
            </a:xfrm>
            <a:custGeom>
              <a:avLst/>
              <a:gdLst/>
              <a:ahLst/>
              <a:cxnLst/>
              <a:rect r="r" b="b" t="t" l="l"/>
              <a:pathLst>
                <a:path h="1795634" w="4569126">
                  <a:moveTo>
                    <a:pt x="30346" y="0"/>
                  </a:moveTo>
                  <a:lnTo>
                    <a:pt x="4538780" y="0"/>
                  </a:lnTo>
                  <a:cubicBezTo>
                    <a:pt x="4555539" y="0"/>
                    <a:pt x="4569126" y="13586"/>
                    <a:pt x="4569126" y="30346"/>
                  </a:cubicBezTo>
                  <a:lnTo>
                    <a:pt x="4569126" y="1765288"/>
                  </a:lnTo>
                  <a:cubicBezTo>
                    <a:pt x="4569126" y="1782048"/>
                    <a:pt x="4555539" y="1795634"/>
                    <a:pt x="4538780" y="1795634"/>
                  </a:cubicBezTo>
                  <a:lnTo>
                    <a:pt x="30346" y="1795634"/>
                  </a:lnTo>
                  <a:cubicBezTo>
                    <a:pt x="13586" y="1795634"/>
                    <a:pt x="0" y="1782048"/>
                    <a:pt x="0" y="1765288"/>
                  </a:cubicBezTo>
                  <a:lnTo>
                    <a:pt x="0" y="30346"/>
                  </a:lnTo>
                  <a:cubicBezTo>
                    <a:pt x="0" y="13586"/>
                    <a:pt x="13586" y="0"/>
                    <a:pt x="303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FF36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569126" cy="182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3848" y="2016561"/>
            <a:ext cx="17036926" cy="653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sz="336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4. Architecture</a:t>
            </a:r>
          </a:p>
          <a:p>
            <a:pPr algn="ctr">
              <a:lnSpc>
                <a:spcPts val="4709"/>
              </a:lnSpc>
            </a:pPr>
            <a:r>
              <a:rPr lang="en-US" sz="336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Frontend: React for responsive and accessible health assessment forms.</a:t>
            </a:r>
          </a:p>
          <a:p>
            <a:pPr algn="ctr">
              <a:lnSpc>
                <a:spcPts val="4709"/>
              </a:lnSpc>
            </a:pPr>
          </a:p>
          <a:p>
            <a:pPr algn="ctr">
              <a:lnSpc>
                <a:spcPts val="4709"/>
              </a:lnSpc>
            </a:pPr>
            <a:r>
              <a:rPr lang="en-US" sz="336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Backend: Supabase providing user authentication and secure data storage.</a:t>
            </a:r>
          </a:p>
          <a:p>
            <a:pPr algn="ctr">
              <a:lnSpc>
                <a:spcPts val="4709"/>
              </a:lnSpc>
            </a:pPr>
          </a:p>
          <a:p>
            <a:pPr algn="ctr">
              <a:lnSpc>
                <a:spcPts val="4709"/>
              </a:lnSpc>
            </a:pPr>
            <a:r>
              <a:rPr lang="en-US" sz="336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AI Model: Client-side TensorFlow.js model allows instant, privacy-preserving prediction without server overhead.</a:t>
            </a:r>
          </a:p>
          <a:p>
            <a:pPr algn="ctr">
              <a:lnSpc>
                <a:spcPts val="4709"/>
              </a:lnSpc>
            </a:pPr>
          </a:p>
          <a:p>
            <a:pPr algn="ctr">
              <a:lnSpc>
                <a:spcPts val="4709"/>
              </a:lnSpc>
            </a:pPr>
            <a:r>
              <a:rPr lang="en-US" sz="336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Extended Integration: Make.com workflow integrated with Google Gemini for generating comprehensive, evidence-based medical advice.</a:t>
            </a:r>
          </a:p>
          <a:p>
            <a:pPr algn="ctr">
              <a:lnSpc>
                <a:spcPts val="47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6215" y="2456615"/>
            <a:ext cx="7923085" cy="6801685"/>
            <a:chOff x="0" y="0"/>
            <a:chExt cx="2086738" cy="1791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6739" cy="1791390"/>
            </a:xfrm>
            <a:custGeom>
              <a:avLst/>
              <a:gdLst/>
              <a:ahLst/>
              <a:cxnLst/>
              <a:rect r="r" b="b" t="t" l="l"/>
              <a:pathLst>
                <a:path h="1791390" w="2086739">
                  <a:moveTo>
                    <a:pt x="24428" y="0"/>
                  </a:moveTo>
                  <a:lnTo>
                    <a:pt x="2062310" y="0"/>
                  </a:lnTo>
                  <a:cubicBezTo>
                    <a:pt x="2075802" y="0"/>
                    <a:pt x="2086739" y="10937"/>
                    <a:pt x="2086739" y="24428"/>
                  </a:cubicBezTo>
                  <a:lnTo>
                    <a:pt x="2086739" y="1766962"/>
                  </a:lnTo>
                  <a:cubicBezTo>
                    <a:pt x="2086739" y="1780453"/>
                    <a:pt x="2075802" y="1791390"/>
                    <a:pt x="2062310" y="1791390"/>
                  </a:cubicBezTo>
                  <a:lnTo>
                    <a:pt x="24428" y="1791390"/>
                  </a:lnTo>
                  <a:cubicBezTo>
                    <a:pt x="10937" y="1791390"/>
                    <a:pt x="0" y="1780453"/>
                    <a:pt x="0" y="1766962"/>
                  </a:cubicBezTo>
                  <a:lnTo>
                    <a:pt x="0" y="24428"/>
                  </a:lnTo>
                  <a:cubicBezTo>
                    <a:pt x="0" y="10937"/>
                    <a:pt x="10937" y="0"/>
                    <a:pt x="24428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86738" cy="1819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06704" y="3666521"/>
            <a:ext cx="585671" cy="585671"/>
          </a:xfrm>
          <a:custGeom>
            <a:avLst/>
            <a:gdLst/>
            <a:ahLst/>
            <a:cxnLst/>
            <a:rect r="r" b="b" t="t" l="l"/>
            <a:pathLst>
              <a:path h="585671" w="585671">
                <a:moveTo>
                  <a:pt x="0" y="0"/>
                </a:moveTo>
                <a:lnTo>
                  <a:pt x="585671" y="0"/>
                </a:lnTo>
                <a:lnTo>
                  <a:pt x="585671" y="585671"/>
                </a:lnTo>
                <a:lnTo>
                  <a:pt x="0" y="58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34534" y="4252192"/>
            <a:ext cx="6665355" cy="2705839"/>
            <a:chOff x="0" y="0"/>
            <a:chExt cx="1032638" cy="419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638" cy="419205"/>
            </a:xfrm>
            <a:custGeom>
              <a:avLst/>
              <a:gdLst/>
              <a:ahLst/>
              <a:cxnLst/>
              <a:rect r="r" b="b" t="t" l="l"/>
              <a:pathLst>
                <a:path h="419205" w="1032638">
                  <a:moveTo>
                    <a:pt x="29038" y="0"/>
                  </a:moveTo>
                  <a:lnTo>
                    <a:pt x="1003600" y="0"/>
                  </a:lnTo>
                  <a:cubicBezTo>
                    <a:pt x="1019637" y="0"/>
                    <a:pt x="1032638" y="13001"/>
                    <a:pt x="1032638" y="29038"/>
                  </a:cubicBezTo>
                  <a:lnTo>
                    <a:pt x="1032638" y="390167"/>
                  </a:lnTo>
                  <a:cubicBezTo>
                    <a:pt x="1032638" y="397869"/>
                    <a:pt x="1029579" y="405255"/>
                    <a:pt x="1024133" y="410700"/>
                  </a:cubicBezTo>
                  <a:cubicBezTo>
                    <a:pt x="1018687" y="416146"/>
                    <a:pt x="1011301" y="419205"/>
                    <a:pt x="1003600" y="419205"/>
                  </a:cubicBezTo>
                  <a:lnTo>
                    <a:pt x="29038" y="419205"/>
                  </a:lnTo>
                  <a:cubicBezTo>
                    <a:pt x="13001" y="419205"/>
                    <a:pt x="0" y="406205"/>
                    <a:pt x="0" y="390167"/>
                  </a:cubicBezTo>
                  <a:lnTo>
                    <a:pt x="0" y="29038"/>
                  </a:lnTo>
                  <a:cubicBezTo>
                    <a:pt x="0" y="21337"/>
                    <a:pt x="3059" y="13951"/>
                    <a:pt x="8505" y="8505"/>
                  </a:cubicBezTo>
                  <a:cubicBezTo>
                    <a:pt x="13951" y="3059"/>
                    <a:pt x="21337" y="0"/>
                    <a:pt x="290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98" r="0" b="-432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5865" y="4252192"/>
            <a:ext cx="7363675" cy="5342083"/>
            <a:chOff x="0" y="0"/>
            <a:chExt cx="1140826" cy="8276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826" cy="827628"/>
            </a:xfrm>
            <a:custGeom>
              <a:avLst/>
              <a:gdLst/>
              <a:ahLst/>
              <a:cxnLst/>
              <a:rect r="r" b="b" t="t" l="l"/>
              <a:pathLst>
                <a:path h="827628" w="1140826">
                  <a:moveTo>
                    <a:pt x="26284" y="0"/>
                  </a:moveTo>
                  <a:lnTo>
                    <a:pt x="1114542" y="0"/>
                  </a:lnTo>
                  <a:cubicBezTo>
                    <a:pt x="1121513" y="0"/>
                    <a:pt x="1128198" y="2769"/>
                    <a:pt x="1133127" y="7698"/>
                  </a:cubicBezTo>
                  <a:cubicBezTo>
                    <a:pt x="1138057" y="12628"/>
                    <a:pt x="1140826" y="19313"/>
                    <a:pt x="1140826" y="26284"/>
                  </a:cubicBezTo>
                  <a:lnTo>
                    <a:pt x="1140826" y="801344"/>
                  </a:lnTo>
                  <a:cubicBezTo>
                    <a:pt x="1140826" y="815861"/>
                    <a:pt x="1129058" y="827628"/>
                    <a:pt x="1114542" y="827628"/>
                  </a:cubicBezTo>
                  <a:lnTo>
                    <a:pt x="26284" y="827628"/>
                  </a:lnTo>
                  <a:cubicBezTo>
                    <a:pt x="19313" y="827628"/>
                    <a:pt x="12628" y="824859"/>
                    <a:pt x="7698" y="819930"/>
                  </a:cubicBezTo>
                  <a:cubicBezTo>
                    <a:pt x="2769" y="815001"/>
                    <a:pt x="0" y="808315"/>
                    <a:pt x="0" y="801344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921" r="0" b="-1892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93187" y="-179938"/>
            <a:ext cx="18474375" cy="10646876"/>
          </a:xfrm>
          <a:custGeom>
            <a:avLst/>
            <a:gdLst/>
            <a:ahLst/>
            <a:cxnLst/>
            <a:rect r="r" b="b" t="t" l="l"/>
            <a:pathLst>
              <a:path h="10646876" w="18474375">
                <a:moveTo>
                  <a:pt x="0" y="0"/>
                </a:moveTo>
                <a:lnTo>
                  <a:pt x="18474374" y="0"/>
                </a:lnTo>
                <a:lnTo>
                  <a:pt x="18474374" y="10646876"/>
                </a:lnTo>
                <a:lnTo>
                  <a:pt x="0" y="1064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7" t="0" r="-1227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9800" y="980913"/>
            <a:ext cx="17348400" cy="7875068"/>
            <a:chOff x="0" y="0"/>
            <a:chExt cx="4569126" cy="2074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69126" cy="2074092"/>
            </a:xfrm>
            <a:custGeom>
              <a:avLst/>
              <a:gdLst/>
              <a:ahLst/>
              <a:cxnLst/>
              <a:rect r="r" b="b" t="t" l="l"/>
              <a:pathLst>
                <a:path h="2074092" w="4569126">
                  <a:moveTo>
                    <a:pt x="30346" y="0"/>
                  </a:moveTo>
                  <a:lnTo>
                    <a:pt x="4538780" y="0"/>
                  </a:lnTo>
                  <a:cubicBezTo>
                    <a:pt x="4555539" y="0"/>
                    <a:pt x="4569126" y="13586"/>
                    <a:pt x="4569126" y="30346"/>
                  </a:cubicBezTo>
                  <a:lnTo>
                    <a:pt x="4569126" y="2043746"/>
                  </a:lnTo>
                  <a:cubicBezTo>
                    <a:pt x="4569126" y="2060506"/>
                    <a:pt x="4555539" y="2074092"/>
                    <a:pt x="4538780" y="2074092"/>
                  </a:cubicBezTo>
                  <a:lnTo>
                    <a:pt x="30346" y="2074092"/>
                  </a:lnTo>
                  <a:cubicBezTo>
                    <a:pt x="13586" y="2074092"/>
                    <a:pt x="0" y="2060506"/>
                    <a:pt x="0" y="2043746"/>
                  </a:cubicBezTo>
                  <a:lnTo>
                    <a:pt x="0" y="30346"/>
                  </a:lnTo>
                  <a:cubicBezTo>
                    <a:pt x="0" y="13586"/>
                    <a:pt x="13586" y="0"/>
                    <a:pt x="303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FF36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569126" cy="2102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54950" y="1307032"/>
            <a:ext cx="15657801" cy="71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3371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5. Demonstration</a:t>
            </a:r>
          </a:p>
          <a:p>
            <a:pPr algn="ctr">
              <a:lnSpc>
                <a:spcPts val="4719"/>
              </a:lnSpc>
            </a:pPr>
            <a:r>
              <a:rPr lang="en-US" sz="3371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 provides demographic (age, gender) and symptom details via form.</a:t>
            </a:r>
          </a:p>
          <a:p>
            <a:pPr algn="ctr">
              <a:lnSpc>
                <a:spcPts val="4719"/>
              </a:lnSpc>
            </a:pPr>
          </a:p>
          <a:p>
            <a:pPr algn="ctr">
              <a:lnSpc>
                <a:spcPts val="4719"/>
              </a:lnSpc>
            </a:pPr>
            <a:r>
              <a:rPr lang="en-US" sz="3371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AI model outputs a risk score as a percentage and categorizes risk into three levels:</a:t>
            </a:r>
          </a:p>
          <a:p>
            <a:pPr algn="ctr">
              <a:lnSpc>
                <a:spcPts val="4719"/>
              </a:lnSpc>
            </a:pPr>
            <a:r>
              <a:rPr lang="en-US" sz="3371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Low (&lt;30%)</a:t>
            </a:r>
          </a:p>
          <a:p>
            <a:pPr algn="ctr">
              <a:lnSpc>
                <a:spcPts val="4719"/>
              </a:lnSpc>
            </a:pPr>
            <a:r>
              <a:rPr lang="en-US" sz="3371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Moderate (30-70%)</a:t>
            </a:r>
          </a:p>
          <a:p>
            <a:pPr algn="ctr">
              <a:lnSpc>
                <a:spcPts val="4719"/>
              </a:lnSpc>
            </a:pPr>
            <a:r>
              <a:rPr lang="en-US" sz="3371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High (&gt;70%)</a:t>
            </a:r>
          </a:p>
          <a:p>
            <a:pPr algn="ctr">
              <a:lnSpc>
                <a:spcPts val="4719"/>
              </a:lnSpc>
            </a:pPr>
            <a:r>
              <a:rPr lang="en-US" sz="3371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Displays key contributing symptoms such as polyuria, polydipsia, weight loss, and obesity.</a:t>
            </a:r>
          </a:p>
          <a:p>
            <a:pPr algn="ctr">
              <a:lnSpc>
                <a:spcPts val="4719"/>
              </a:lnSpc>
            </a:pPr>
            <a:r>
              <a:rPr lang="en-US" sz="3371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Issues tailored recommendations validated against clinical guidelines.</a:t>
            </a:r>
          </a:p>
          <a:p>
            <a:pPr algn="ctr">
              <a:lnSpc>
                <a:spcPts val="47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6215" y="2456615"/>
            <a:ext cx="7923085" cy="6801685"/>
            <a:chOff x="0" y="0"/>
            <a:chExt cx="2086738" cy="1791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6739" cy="1791390"/>
            </a:xfrm>
            <a:custGeom>
              <a:avLst/>
              <a:gdLst/>
              <a:ahLst/>
              <a:cxnLst/>
              <a:rect r="r" b="b" t="t" l="l"/>
              <a:pathLst>
                <a:path h="1791390" w="2086739">
                  <a:moveTo>
                    <a:pt x="24428" y="0"/>
                  </a:moveTo>
                  <a:lnTo>
                    <a:pt x="2062310" y="0"/>
                  </a:lnTo>
                  <a:cubicBezTo>
                    <a:pt x="2075802" y="0"/>
                    <a:pt x="2086739" y="10937"/>
                    <a:pt x="2086739" y="24428"/>
                  </a:cubicBezTo>
                  <a:lnTo>
                    <a:pt x="2086739" y="1766962"/>
                  </a:lnTo>
                  <a:cubicBezTo>
                    <a:pt x="2086739" y="1780453"/>
                    <a:pt x="2075802" y="1791390"/>
                    <a:pt x="2062310" y="1791390"/>
                  </a:cubicBezTo>
                  <a:lnTo>
                    <a:pt x="24428" y="1791390"/>
                  </a:lnTo>
                  <a:cubicBezTo>
                    <a:pt x="10937" y="1791390"/>
                    <a:pt x="0" y="1780453"/>
                    <a:pt x="0" y="1766962"/>
                  </a:cubicBezTo>
                  <a:lnTo>
                    <a:pt x="0" y="24428"/>
                  </a:lnTo>
                  <a:cubicBezTo>
                    <a:pt x="0" y="10937"/>
                    <a:pt x="10937" y="0"/>
                    <a:pt x="24428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86738" cy="1819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06704" y="3666521"/>
            <a:ext cx="585671" cy="585671"/>
          </a:xfrm>
          <a:custGeom>
            <a:avLst/>
            <a:gdLst/>
            <a:ahLst/>
            <a:cxnLst/>
            <a:rect r="r" b="b" t="t" l="l"/>
            <a:pathLst>
              <a:path h="585671" w="585671">
                <a:moveTo>
                  <a:pt x="0" y="0"/>
                </a:moveTo>
                <a:lnTo>
                  <a:pt x="585671" y="0"/>
                </a:lnTo>
                <a:lnTo>
                  <a:pt x="585671" y="585671"/>
                </a:lnTo>
                <a:lnTo>
                  <a:pt x="0" y="58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34534" y="4252192"/>
            <a:ext cx="6665355" cy="2705839"/>
            <a:chOff x="0" y="0"/>
            <a:chExt cx="1032638" cy="419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638" cy="419205"/>
            </a:xfrm>
            <a:custGeom>
              <a:avLst/>
              <a:gdLst/>
              <a:ahLst/>
              <a:cxnLst/>
              <a:rect r="r" b="b" t="t" l="l"/>
              <a:pathLst>
                <a:path h="419205" w="1032638">
                  <a:moveTo>
                    <a:pt x="29038" y="0"/>
                  </a:moveTo>
                  <a:lnTo>
                    <a:pt x="1003600" y="0"/>
                  </a:lnTo>
                  <a:cubicBezTo>
                    <a:pt x="1019637" y="0"/>
                    <a:pt x="1032638" y="13001"/>
                    <a:pt x="1032638" y="29038"/>
                  </a:cubicBezTo>
                  <a:lnTo>
                    <a:pt x="1032638" y="390167"/>
                  </a:lnTo>
                  <a:cubicBezTo>
                    <a:pt x="1032638" y="397869"/>
                    <a:pt x="1029579" y="405255"/>
                    <a:pt x="1024133" y="410700"/>
                  </a:cubicBezTo>
                  <a:cubicBezTo>
                    <a:pt x="1018687" y="416146"/>
                    <a:pt x="1011301" y="419205"/>
                    <a:pt x="1003600" y="419205"/>
                  </a:cubicBezTo>
                  <a:lnTo>
                    <a:pt x="29038" y="419205"/>
                  </a:lnTo>
                  <a:cubicBezTo>
                    <a:pt x="13001" y="419205"/>
                    <a:pt x="0" y="406205"/>
                    <a:pt x="0" y="390167"/>
                  </a:cubicBezTo>
                  <a:lnTo>
                    <a:pt x="0" y="29038"/>
                  </a:lnTo>
                  <a:cubicBezTo>
                    <a:pt x="0" y="21337"/>
                    <a:pt x="3059" y="13951"/>
                    <a:pt x="8505" y="8505"/>
                  </a:cubicBezTo>
                  <a:cubicBezTo>
                    <a:pt x="13951" y="3059"/>
                    <a:pt x="21337" y="0"/>
                    <a:pt x="290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98" r="0" b="-432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5865" y="4252192"/>
            <a:ext cx="7363675" cy="5342083"/>
            <a:chOff x="0" y="0"/>
            <a:chExt cx="1140826" cy="8276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826" cy="827628"/>
            </a:xfrm>
            <a:custGeom>
              <a:avLst/>
              <a:gdLst/>
              <a:ahLst/>
              <a:cxnLst/>
              <a:rect r="r" b="b" t="t" l="l"/>
              <a:pathLst>
                <a:path h="827628" w="1140826">
                  <a:moveTo>
                    <a:pt x="26284" y="0"/>
                  </a:moveTo>
                  <a:lnTo>
                    <a:pt x="1114542" y="0"/>
                  </a:lnTo>
                  <a:cubicBezTo>
                    <a:pt x="1121513" y="0"/>
                    <a:pt x="1128198" y="2769"/>
                    <a:pt x="1133127" y="7698"/>
                  </a:cubicBezTo>
                  <a:cubicBezTo>
                    <a:pt x="1138057" y="12628"/>
                    <a:pt x="1140826" y="19313"/>
                    <a:pt x="1140826" y="26284"/>
                  </a:cubicBezTo>
                  <a:lnTo>
                    <a:pt x="1140826" y="801344"/>
                  </a:lnTo>
                  <a:cubicBezTo>
                    <a:pt x="1140826" y="815861"/>
                    <a:pt x="1129058" y="827628"/>
                    <a:pt x="1114542" y="827628"/>
                  </a:cubicBezTo>
                  <a:lnTo>
                    <a:pt x="26284" y="827628"/>
                  </a:lnTo>
                  <a:cubicBezTo>
                    <a:pt x="19313" y="827628"/>
                    <a:pt x="12628" y="824859"/>
                    <a:pt x="7698" y="819930"/>
                  </a:cubicBezTo>
                  <a:cubicBezTo>
                    <a:pt x="2769" y="815001"/>
                    <a:pt x="0" y="808315"/>
                    <a:pt x="0" y="801344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921" r="0" b="-1892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93187" y="-179938"/>
            <a:ext cx="18474375" cy="10646876"/>
          </a:xfrm>
          <a:custGeom>
            <a:avLst/>
            <a:gdLst/>
            <a:ahLst/>
            <a:cxnLst/>
            <a:rect r="r" b="b" t="t" l="l"/>
            <a:pathLst>
              <a:path h="10646876" w="18474375">
                <a:moveTo>
                  <a:pt x="0" y="0"/>
                </a:moveTo>
                <a:lnTo>
                  <a:pt x="18474374" y="0"/>
                </a:lnTo>
                <a:lnTo>
                  <a:pt x="18474374" y="10646876"/>
                </a:lnTo>
                <a:lnTo>
                  <a:pt x="0" y="1064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7" t="0" r="-1227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9800" y="980913"/>
            <a:ext cx="17348400" cy="7875068"/>
            <a:chOff x="0" y="0"/>
            <a:chExt cx="4569126" cy="2074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69126" cy="2074092"/>
            </a:xfrm>
            <a:custGeom>
              <a:avLst/>
              <a:gdLst/>
              <a:ahLst/>
              <a:cxnLst/>
              <a:rect r="r" b="b" t="t" l="l"/>
              <a:pathLst>
                <a:path h="2074092" w="4569126">
                  <a:moveTo>
                    <a:pt x="30346" y="0"/>
                  </a:moveTo>
                  <a:lnTo>
                    <a:pt x="4538780" y="0"/>
                  </a:lnTo>
                  <a:cubicBezTo>
                    <a:pt x="4555539" y="0"/>
                    <a:pt x="4569126" y="13586"/>
                    <a:pt x="4569126" y="30346"/>
                  </a:cubicBezTo>
                  <a:lnTo>
                    <a:pt x="4569126" y="2043746"/>
                  </a:lnTo>
                  <a:cubicBezTo>
                    <a:pt x="4569126" y="2060506"/>
                    <a:pt x="4555539" y="2074092"/>
                    <a:pt x="4538780" y="2074092"/>
                  </a:cubicBezTo>
                  <a:lnTo>
                    <a:pt x="30346" y="2074092"/>
                  </a:lnTo>
                  <a:cubicBezTo>
                    <a:pt x="13586" y="2074092"/>
                    <a:pt x="0" y="2060506"/>
                    <a:pt x="0" y="2043746"/>
                  </a:cubicBezTo>
                  <a:lnTo>
                    <a:pt x="0" y="30346"/>
                  </a:lnTo>
                  <a:cubicBezTo>
                    <a:pt x="0" y="13586"/>
                    <a:pt x="13586" y="0"/>
                    <a:pt x="303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FF36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569126" cy="2102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5865" y="2389940"/>
            <a:ext cx="16981764" cy="551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9"/>
              </a:lnSpc>
            </a:pPr>
            <a:r>
              <a:rPr lang="en-US" sz="3478" spc="-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6. Innovation and Differentiators</a:t>
            </a:r>
          </a:p>
          <a:p>
            <a:pPr algn="ctr">
              <a:lnSpc>
                <a:spcPts val="4869"/>
              </a:lnSpc>
            </a:pPr>
            <a:r>
              <a:rPr lang="en-US" sz="3478" spc="-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Efficient client-side inference reduces latency and enhances user privacy.</a:t>
            </a:r>
          </a:p>
          <a:p>
            <a:pPr algn="ctr">
              <a:lnSpc>
                <a:spcPts val="4869"/>
              </a:lnSpc>
            </a:pPr>
          </a:p>
          <a:p>
            <a:pPr algn="ctr">
              <a:lnSpc>
                <a:spcPts val="4869"/>
              </a:lnSpc>
            </a:pPr>
            <a:r>
              <a:rPr lang="en-US" sz="3478" spc="-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Cloud backend supports multi-user management and historical data tracking.</a:t>
            </a:r>
          </a:p>
          <a:p>
            <a:pPr algn="ctr">
              <a:lnSpc>
                <a:spcPts val="4869"/>
              </a:lnSpc>
            </a:pPr>
          </a:p>
          <a:p>
            <a:pPr algn="ctr">
              <a:lnSpc>
                <a:spcPts val="4869"/>
              </a:lnSpc>
            </a:pPr>
            <a:r>
              <a:rPr lang="en-US" sz="3478" spc="-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AI-generated personalized recommendations augment clinical value.</a:t>
            </a:r>
          </a:p>
          <a:p>
            <a:pPr algn="ctr">
              <a:lnSpc>
                <a:spcPts val="4869"/>
              </a:lnSpc>
            </a:pPr>
          </a:p>
          <a:p>
            <a:pPr algn="ctr">
              <a:lnSpc>
                <a:spcPts val="4869"/>
              </a:lnSpc>
            </a:pPr>
            <a:r>
              <a:rPr lang="en-US" sz="3478" spc="-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Modular design allows expansion to other chronic disease risk assessments.</a:t>
            </a:r>
          </a:p>
          <a:p>
            <a:pPr algn="ctr">
              <a:lnSpc>
                <a:spcPts val="48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6215" y="2456615"/>
            <a:ext cx="7923085" cy="6801685"/>
            <a:chOff x="0" y="0"/>
            <a:chExt cx="2086738" cy="1791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6739" cy="1791390"/>
            </a:xfrm>
            <a:custGeom>
              <a:avLst/>
              <a:gdLst/>
              <a:ahLst/>
              <a:cxnLst/>
              <a:rect r="r" b="b" t="t" l="l"/>
              <a:pathLst>
                <a:path h="1791390" w="2086739">
                  <a:moveTo>
                    <a:pt x="24428" y="0"/>
                  </a:moveTo>
                  <a:lnTo>
                    <a:pt x="2062310" y="0"/>
                  </a:lnTo>
                  <a:cubicBezTo>
                    <a:pt x="2075802" y="0"/>
                    <a:pt x="2086739" y="10937"/>
                    <a:pt x="2086739" y="24428"/>
                  </a:cubicBezTo>
                  <a:lnTo>
                    <a:pt x="2086739" y="1766962"/>
                  </a:lnTo>
                  <a:cubicBezTo>
                    <a:pt x="2086739" y="1780453"/>
                    <a:pt x="2075802" y="1791390"/>
                    <a:pt x="2062310" y="1791390"/>
                  </a:cubicBezTo>
                  <a:lnTo>
                    <a:pt x="24428" y="1791390"/>
                  </a:lnTo>
                  <a:cubicBezTo>
                    <a:pt x="10937" y="1791390"/>
                    <a:pt x="0" y="1780453"/>
                    <a:pt x="0" y="1766962"/>
                  </a:cubicBezTo>
                  <a:lnTo>
                    <a:pt x="0" y="24428"/>
                  </a:lnTo>
                  <a:cubicBezTo>
                    <a:pt x="0" y="10937"/>
                    <a:pt x="10937" y="0"/>
                    <a:pt x="24428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86738" cy="1819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06704" y="3666521"/>
            <a:ext cx="585671" cy="585671"/>
          </a:xfrm>
          <a:custGeom>
            <a:avLst/>
            <a:gdLst/>
            <a:ahLst/>
            <a:cxnLst/>
            <a:rect r="r" b="b" t="t" l="l"/>
            <a:pathLst>
              <a:path h="585671" w="585671">
                <a:moveTo>
                  <a:pt x="0" y="0"/>
                </a:moveTo>
                <a:lnTo>
                  <a:pt x="585671" y="0"/>
                </a:lnTo>
                <a:lnTo>
                  <a:pt x="585671" y="585671"/>
                </a:lnTo>
                <a:lnTo>
                  <a:pt x="0" y="58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34534" y="4252192"/>
            <a:ext cx="6665355" cy="2705839"/>
            <a:chOff x="0" y="0"/>
            <a:chExt cx="1032638" cy="419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638" cy="419205"/>
            </a:xfrm>
            <a:custGeom>
              <a:avLst/>
              <a:gdLst/>
              <a:ahLst/>
              <a:cxnLst/>
              <a:rect r="r" b="b" t="t" l="l"/>
              <a:pathLst>
                <a:path h="419205" w="1032638">
                  <a:moveTo>
                    <a:pt x="29038" y="0"/>
                  </a:moveTo>
                  <a:lnTo>
                    <a:pt x="1003600" y="0"/>
                  </a:lnTo>
                  <a:cubicBezTo>
                    <a:pt x="1019637" y="0"/>
                    <a:pt x="1032638" y="13001"/>
                    <a:pt x="1032638" y="29038"/>
                  </a:cubicBezTo>
                  <a:lnTo>
                    <a:pt x="1032638" y="390167"/>
                  </a:lnTo>
                  <a:cubicBezTo>
                    <a:pt x="1032638" y="397869"/>
                    <a:pt x="1029579" y="405255"/>
                    <a:pt x="1024133" y="410700"/>
                  </a:cubicBezTo>
                  <a:cubicBezTo>
                    <a:pt x="1018687" y="416146"/>
                    <a:pt x="1011301" y="419205"/>
                    <a:pt x="1003600" y="419205"/>
                  </a:cubicBezTo>
                  <a:lnTo>
                    <a:pt x="29038" y="419205"/>
                  </a:lnTo>
                  <a:cubicBezTo>
                    <a:pt x="13001" y="419205"/>
                    <a:pt x="0" y="406205"/>
                    <a:pt x="0" y="390167"/>
                  </a:cubicBezTo>
                  <a:lnTo>
                    <a:pt x="0" y="29038"/>
                  </a:lnTo>
                  <a:cubicBezTo>
                    <a:pt x="0" y="21337"/>
                    <a:pt x="3059" y="13951"/>
                    <a:pt x="8505" y="8505"/>
                  </a:cubicBezTo>
                  <a:cubicBezTo>
                    <a:pt x="13951" y="3059"/>
                    <a:pt x="21337" y="0"/>
                    <a:pt x="290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98" r="0" b="-432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5865" y="4252192"/>
            <a:ext cx="7363675" cy="5342083"/>
            <a:chOff x="0" y="0"/>
            <a:chExt cx="1140826" cy="8276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826" cy="827628"/>
            </a:xfrm>
            <a:custGeom>
              <a:avLst/>
              <a:gdLst/>
              <a:ahLst/>
              <a:cxnLst/>
              <a:rect r="r" b="b" t="t" l="l"/>
              <a:pathLst>
                <a:path h="827628" w="1140826">
                  <a:moveTo>
                    <a:pt x="26284" y="0"/>
                  </a:moveTo>
                  <a:lnTo>
                    <a:pt x="1114542" y="0"/>
                  </a:lnTo>
                  <a:cubicBezTo>
                    <a:pt x="1121513" y="0"/>
                    <a:pt x="1128198" y="2769"/>
                    <a:pt x="1133127" y="7698"/>
                  </a:cubicBezTo>
                  <a:cubicBezTo>
                    <a:pt x="1138057" y="12628"/>
                    <a:pt x="1140826" y="19313"/>
                    <a:pt x="1140826" y="26284"/>
                  </a:cubicBezTo>
                  <a:lnTo>
                    <a:pt x="1140826" y="801344"/>
                  </a:lnTo>
                  <a:cubicBezTo>
                    <a:pt x="1140826" y="815861"/>
                    <a:pt x="1129058" y="827628"/>
                    <a:pt x="1114542" y="827628"/>
                  </a:cubicBezTo>
                  <a:lnTo>
                    <a:pt x="26284" y="827628"/>
                  </a:lnTo>
                  <a:cubicBezTo>
                    <a:pt x="19313" y="827628"/>
                    <a:pt x="12628" y="824859"/>
                    <a:pt x="7698" y="819930"/>
                  </a:cubicBezTo>
                  <a:cubicBezTo>
                    <a:pt x="2769" y="815001"/>
                    <a:pt x="0" y="808315"/>
                    <a:pt x="0" y="801344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921" r="0" b="-1892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93187" y="-179938"/>
            <a:ext cx="18474375" cy="10646876"/>
          </a:xfrm>
          <a:custGeom>
            <a:avLst/>
            <a:gdLst/>
            <a:ahLst/>
            <a:cxnLst/>
            <a:rect r="r" b="b" t="t" l="l"/>
            <a:pathLst>
              <a:path h="10646876" w="18474375">
                <a:moveTo>
                  <a:pt x="0" y="0"/>
                </a:moveTo>
                <a:lnTo>
                  <a:pt x="18474374" y="0"/>
                </a:lnTo>
                <a:lnTo>
                  <a:pt x="18474374" y="10646876"/>
                </a:lnTo>
                <a:lnTo>
                  <a:pt x="0" y="1064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7" t="0" r="-1227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9800" y="980913"/>
            <a:ext cx="17348400" cy="7875068"/>
            <a:chOff x="0" y="0"/>
            <a:chExt cx="4569126" cy="2074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69126" cy="2074092"/>
            </a:xfrm>
            <a:custGeom>
              <a:avLst/>
              <a:gdLst/>
              <a:ahLst/>
              <a:cxnLst/>
              <a:rect r="r" b="b" t="t" l="l"/>
              <a:pathLst>
                <a:path h="2074092" w="4569126">
                  <a:moveTo>
                    <a:pt x="30346" y="0"/>
                  </a:moveTo>
                  <a:lnTo>
                    <a:pt x="4538780" y="0"/>
                  </a:lnTo>
                  <a:cubicBezTo>
                    <a:pt x="4555539" y="0"/>
                    <a:pt x="4569126" y="13586"/>
                    <a:pt x="4569126" y="30346"/>
                  </a:cubicBezTo>
                  <a:lnTo>
                    <a:pt x="4569126" y="2043746"/>
                  </a:lnTo>
                  <a:cubicBezTo>
                    <a:pt x="4569126" y="2060506"/>
                    <a:pt x="4555539" y="2074092"/>
                    <a:pt x="4538780" y="2074092"/>
                  </a:cubicBezTo>
                  <a:lnTo>
                    <a:pt x="30346" y="2074092"/>
                  </a:lnTo>
                  <a:cubicBezTo>
                    <a:pt x="13586" y="2074092"/>
                    <a:pt x="0" y="2060506"/>
                    <a:pt x="0" y="2043746"/>
                  </a:cubicBezTo>
                  <a:lnTo>
                    <a:pt x="0" y="30346"/>
                  </a:lnTo>
                  <a:cubicBezTo>
                    <a:pt x="0" y="13586"/>
                    <a:pt x="13586" y="0"/>
                    <a:pt x="303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FF36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569126" cy="2102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89613" y="1768366"/>
            <a:ext cx="14693203" cy="668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3"/>
              </a:lnSpc>
            </a:pPr>
            <a:r>
              <a:rPr lang="en-US" sz="3445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7. Impact and Outcomes</a:t>
            </a:r>
          </a:p>
          <a:p>
            <a:pPr algn="ctr">
              <a:lnSpc>
                <a:spcPts val="4823"/>
              </a:lnSpc>
            </a:pPr>
            <a:r>
              <a:rPr lang="en-US" sz="3445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Enables early intervention, reducing risk of serious complications such as cardiovascular disease and kidney failure.</a:t>
            </a:r>
          </a:p>
          <a:p>
            <a:pPr algn="ctr">
              <a:lnSpc>
                <a:spcPts val="4823"/>
              </a:lnSpc>
            </a:pPr>
          </a:p>
          <a:p>
            <a:pPr algn="ctr">
              <a:lnSpc>
                <a:spcPts val="4823"/>
              </a:lnSpc>
            </a:pPr>
            <a:r>
              <a:rPr lang="en-US" sz="3445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Provides a cost-effective screening alternative with potential reach to millions lacking access to clinical diagnostics.</a:t>
            </a:r>
          </a:p>
          <a:p>
            <a:pPr algn="ctr">
              <a:lnSpc>
                <a:spcPts val="4823"/>
              </a:lnSpc>
            </a:pPr>
          </a:p>
          <a:p>
            <a:pPr algn="ctr">
              <a:lnSpc>
                <a:spcPts val="4823"/>
              </a:lnSpc>
            </a:pPr>
            <a:r>
              <a:rPr lang="en-US" sz="3445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Empowers users with data-driven insights promoting lifestyle modifications and medical consultation.</a:t>
            </a:r>
          </a:p>
          <a:p>
            <a:pPr algn="ctr">
              <a:lnSpc>
                <a:spcPts val="4823"/>
              </a:lnSpc>
            </a:pPr>
          </a:p>
          <a:p>
            <a:pPr algn="ctr">
              <a:lnSpc>
                <a:spcPts val="4823"/>
              </a:lnSpc>
              <a:spcBef>
                <a:spcPct val="0"/>
              </a:spcBef>
            </a:pPr>
            <a:r>
              <a:rPr lang="en-US" sz="3445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Supports public health goals of reducing diabetes burden.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6215" y="2456615"/>
            <a:ext cx="7923085" cy="6801685"/>
            <a:chOff x="0" y="0"/>
            <a:chExt cx="2086738" cy="1791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6739" cy="1791390"/>
            </a:xfrm>
            <a:custGeom>
              <a:avLst/>
              <a:gdLst/>
              <a:ahLst/>
              <a:cxnLst/>
              <a:rect r="r" b="b" t="t" l="l"/>
              <a:pathLst>
                <a:path h="1791390" w="2086739">
                  <a:moveTo>
                    <a:pt x="24428" y="0"/>
                  </a:moveTo>
                  <a:lnTo>
                    <a:pt x="2062310" y="0"/>
                  </a:lnTo>
                  <a:cubicBezTo>
                    <a:pt x="2075802" y="0"/>
                    <a:pt x="2086739" y="10937"/>
                    <a:pt x="2086739" y="24428"/>
                  </a:cubicBezTo>
                  <a:lnTo>
                    <a:pt x="2086739" y="1766962"/>
                  </a:lnTo>
                  <a:cubicBezTo>
                    <a:pt x="2086739" y="1780453"/>
                    <a:pt x="2075802" y="1791390"/>
                    <a:pt x="2062310" y="1791390"/>
                  </a:cubicBezTo>
                  <a:lnTo>
                    <a:pt x="24428" y="1791390"/>
                  </a:lnTo>
                  <a:cubicBezTo>
                    <a:pt x="10937" y="1791390"/>
                    <a:pt x="0" y="1780453"/>
                    <a:pt x="0" y="1766962"/>
                  </a:cubicBezTo>
                  <a:lnTo>
                    <a:pt x="0" y="24428"/>
                  </a:lnTo>
                  <a:cubicBezTo>
                    <a:pt x="0" y="10937"/>
                    <a:pt x="10937" y="0"/>
                    <a:pt x="24428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86738" cy="1819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06704" y="3666521"/>
            <a:ext cx="585671" cy="585671"/>
          </a:xfrm>
          <a:custGeom>
            <a:avLst/>
            <a:gdLst/>
            <a:ahLst/>
            <a:cxnLst/>
            <a:rect r="r" b="b" t="t" l="l"/>
            <a:pathLst>
              <a:path h="585671" w="585671">
                <a:moveTo>
                  <a:pt x="0" y="0"/>
                </a:moveTo>
                <a:lnTo>
                  <a:pt x="585671" y="0"/>
                </a:lnTo>
                <a:lnTo>
                  <a:pt x="585671" y="585671"/>
                </a:lnTo>
                <a:lnTo>
                  <a:pt x="0" y="58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34534" y="4252192"/>
            <a:ext cx="6665355" cy="2705839"/>
            <a:chOff x="0" y="0"/>
            <a:chExt cx="1032638" cy="419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638" cy="419205"/>
            </a:xfrm>
            <a:custGeom>
              <a:avLst/>
              <a:gdLst/>
              <a:ahLst/>
              <a:cxnLst/>
              <a:rect r="r" b="b" t="t" l="l"/>
              <a:pathLst>
                <a:path h="419205" w="1032638">
                  <a:moveTo>
                    <a:pt x="29038" y="0"/>
                  </a:moveTo>
                  <a:lnTo>
                    <a:pt x="1003600" y="0"/>
                  </a:lnTo>
                  <a:cubicBezTo>
                    <a:pt x="1019637" y="0"/>
                    <a:pt x="1032638" y="13001"/>
                    <a:pt x="1032638" y="29038"/>
                  </a:cubicBezTo>
                  <a:lnTo>
                    <a:pt x="1032638" y="390167"/>
                  </a:lnTo>
                  <a:cubicBezTo>
                    <a:pt x="1032638" y="397869"/>
                    <a:pt x="1029579" y="405255"/>
                    <a:pt x="1024133" y="410700"/>
                  </a:cubicBezTo>
                  <a:cubicBezTo>
                    <a:pt x="1018687" y="416146"/>
                    <a:pt x="1011301" y="419205"/>
                    <a:pt x="1003600" y="419205"/>
                  </a:cubicBezTo>
                  <a:lnTo>
                    <a:pt x="29038" y="419205"/>
                  </a:lnTo>
                  <a:cubicBezTo>
                    <a:pt x="13001" y="419205"/>
                    <a:pt x="0" y="406205"/>
                    <a:pt x="0" y="390167"/>
                  </a:cubicBezTo>
                  <a:lnTo>
                    <a:pt x="0" y="29038"/>
                  </a:lnTo>
                  <a:cubicBezTo>
                    <a:pt x="0" y="21337"/>
                    <a:pt x="3059" y="13951"/>
                    <a:pt x="8505" y="8505"/>
                  </a:cubicBezTo>
                  <a:cubicBezTo>
                    <a:pt x="13951" y="3059"/>
                    <a:pt x="21337" y="0"/>
                    <a:pt x="290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98" r="0" b="-432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5865" y="4252192"/>
            <a:ext cx="7363675" cy="5342083"/>
            <a:chOff x="0" y="0"/>
            <a:chExt cx="1140826" cy="8276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826" cy="827628"/>
            </a:xfrm>
            <a:custGeom>
              <a:avLst/>
              <a:gdLst/>
              <a:ahLst/>
              <a:cxnLst/>
              <a:rect r="r" b="b" t="t" l="l"/>
              <a:pathLst>
                <a:path h="827628" w="1140826">
                  <a:moveTo>
                    <a:pt x="26284" y="0"/>
                  </a:moveTo>
                  <a:lnTo>
                    <a:pt x="1114542" y="0"/>
                  </a:lnTo>
                  <a:cubicBezTo>
                    <a:pt x="1121513" y="0"/>
                    <a:pt x="1128198" y="2769"/>
                    <a:pt x="1133127" y="7698"/>
                  </a:cubicBezTo>
                  <a:cubicBezTo>
                    <a:pt x="1138057" y="12628"/>
                    <a:pt x="1140826" y="19313"/>
                    <a:pt x="1140826" y="26284"/>
                  </a:cubicBezTo>
                  <a:lnTo>
                    <a:pt x="1140826" y="801344"/>
                  </a:lnTo>
                  <a:cubicBezTo>
                    <a:pt x="1140826" y="815861"/>
                    <a:pt x="1129058" y="827628"/>
                    <a:pt x="1114542" y="827628"/>
                  </a:cubicBezTo>
                  <a:lnTo>
                    <a:pt x="26284" y="827628"/>
                  </a:lnTo>
                  <a:cubicBezTo>
                    <a:pt x="19313" y="827628"/>
                    <a:pt x="12628" y="824859"/>
                    <a:pt x="7698" y="819930"/>
                  </a:cubicBezTo>
                  <a:cubicBezTo>
                    <a:pt x="2769" y="815001"/>
                    <a:pt x="0" y="808315"/>
                    <a:pt x="0" y="801344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921" r="0" b="-1892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93187" y="-179938"/>
            <a:ext cx="18474375" cy="10646876"/>
          </a:xfrm>
          <a:custGeom>
            <a:avLst/>
            <a:gdLst/>
            <a:ahLst/>
            <a:cxnLst/>
            <a:rect r="r" b="b" t="t" l="l"/>
            <a:pathLst>
              <a:path h="10646876" w="18474375">
                <a:moveTo>
                  <a:pt x="0" y="0"/>
                </a:moveTo>
                <a:lnTo>
                  <a:pt x="18474374" y="0"/>
                </a:lnTo>
                <a:lnTo>
                  <a:pt x="18474374" y="10646876"/>
                </a:lnTo>
                <a:lnTo>
                  <a:pt x="0" y="1064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7" t="0" r="-1227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9800" y="980913"/>
            <a:ext cx="17348400" cy="7875068"/>
            <a:chOff x="0" y="0"/>
            <a:chExt cx="4569126" cy="2074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69126" cy="2074092"/>
            </a:xfrm>
            <a:custGeom>
              <a:avLst/>
              <a:gdLst/>
              <a:ahLst/>
              <a:cxnLst/>
              <a:rect r="r" b="b" t="t" l="l"/>
              <a:pathLst>
                <a:path h="2074092" w="4569126">
                  <a:moveTo>
                    <a:pt x="30346" y="0"/>
                  </a:moveTo>
                  <a:lnTo>
                    <a:pt x="4538780" y="0"/>
                  </a:lnTo>
                  <a:cubicBezTo>
                    <a:pt x="4555539" y="0"/>
                    <a:pt x="4569126" y="13586"/>
                    <a:pt x="4569126" y="30346"/>
                  </a:cubicBezTo>
                  <a:lnTo>
                    <a:pt x="4569126" y="2043746"/>
                  </a:lnTo>
                  <a:cubicBezTo>
                    <a:pt x="4569126" y="2060506"/>
                    <a:pt x="4555539" y="2074092"/>
                    <a:pt x="4538780" y="2074092"/>
                  </a:cubicBezTo>
                  <a:lnTo>
                    <a:pt x="30346" y="2074092"/>
                  </a:lnTo>
                  <a:cubicBezTo>
                    <a:pt x="13586" y="2074092"/>
                    <a:pt x="0" y="2060506"/>
                    <a:pt x="0" y="2043746"/>
                  </a:cubicBezTo>
                  <a:lnTo>
                    <a:pt x="0" y="30346"/>
                  </a:lnTo>
                  <a:cubicBezTo>
                    <a:pt x="0" y="13586"/>
                    <a:pt x="13586" y="0"/>
                    <a:pt x="303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FF36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569126" cy="2102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14958" y="1600508"/>
            <a:ext cx="14658083" cy="595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6"/>
              </a:lnSpc>
            </a:pPr>
            <a:r>
              <a:rPr lang="en-US" sz="336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8. Future Enhancements</a:t>
            </a:r>
          </a:p>
          <a:p>
            <a:pPr algn="ctr">
              <a:lnSpc>
                <a:spcPts val="4716"/>
              </a:lnSpc>
            </a:pPr>
            <a:r>
              <a:rPr lang="en-US" sz="336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Continuous model retraining on larger datasets for improved accuracy.</a:t>
            </a:r>
          </a:p>
          <a:p>
            <a:pPr algn="ctr">
              <a:lnSpc>
                <a:spcPts val="4716"/>
              </a:lnSpc>
            </a:pPr>
          </a:p>
          <a:p>
            <a:pPr algn="ctr">
              <a:lnSpc>
                <a:spcPts val="4716"/>
              </a:lnSpc>
            </a:pPr>
            <a:r>
              <a:rPr lang="en-US" sz="336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Multilingual support and accessibility features to broaden reach.</a:t>
            </a:r>
          </a:p>
          <a:p>
            <a:pPr algn="ctr">
              <a:lnSpc>
                <a:spcPts val="4716"/>
              </a:lnSpc>
            </a:pPr>
          </a:p>
          <a:p>
            <a:pPr algn="ctr">
              <a:lnSpc>
                <a:spcPts val="4716"/>
              </a:lnSpc>
            </a:pPr>
            <a:r>
              <a:rPr lang="en-US" sz="336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Integration with wearable devices and electronic health records for comprehensive monitoring.</a:t>
            </a:r>
          </a:p>
          <a:p>
            <a:pPr algn="ctr">
              <a:lnSpc>
                <a:spcPts val="4716"/>
              </a:lnSpc>
            </a:pPr>
          </a:p>
          <a:p>
            <a:pPr algn="ctr">
              <a:lnSpc>
                <a:spcPts val="4716"/>
              </a:lnSpc>
            </a:pPr>
            <a:r>
              <a:rPr lang="en-US" sz="336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Incorporation of telemedicine consultations and follow-up reminders.</a:t>
            </a:r>
          </a:p>
          <a:p>
            <a:pPr algn="ctr">
              <a:lnSpc>
                <a:spcPts val="47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6215" y="2456615"/>
            <a:ext cx="7923085" cy="6801685"/>
            <a:chOff x="0" y="0"/>
            <a:chExt cx="2086738" cy="1791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6739" cy="1791390"/>
            </a:xfrm>
            <a:custGeom>
              <a:avLst/>
              <a:gdLst/>
              <a:ahLst/>
              <a:cxnLst/>
              <a:rect r="r" b="b" t="t" l="l"/>
              <a:pathLst>
                <a:path h="1791390" w="2086739">
                  <a:moveTo>
                    <a:pt x="24428" y="0"/>
                  </a:moveTo>
                  <a:lnTo>
                    <a:pt x="2062310" y="0"/>
                  </a:lnTo>
                  <a:cubicBezTo>
                    <a:pt x="2075802" y="0"/>
                    <a:pt x="2086739" y="10937"/>
                    <a:pt x="2086739" y="24428"/>
                  </a:cubicBezTo>
                  <a:lnTo>
                    <a:pt x="2086739" y="1766962"/>
                  </a:lnTo>
                  <a:cubicBezTo>
                    <a:pt x="2086739" y="1780453"/>
                    <a:pt x="2075802" y="1791390"/>
                    <a:pt x="2062310" y="1791390"/>
                  </a:cubicBezTo>
                  <a:lnTo>
                    <a:pt x="24428" y="1791390"/>
                  </a:lnTo>
                  <a:cubicBezTo>
                    <a:pt x="10937" y="1791390"/>
                    <a:pt x="0" y="1780453"/>
                    <a:pt x="0" y="1766962"/>
                  </a:cubicBezTo>
                  <a:lnTo>
                    <a:pt x="0" y="24428"/>
                  </a:lnTo>
                  <a:cubicBezTo>
                    <a:pt x="0" y="10937"/>
                    <a:pt x="10937" y="0"/>
                    <a:pt x="24428" y="0"/>
                  </a:cubicBezTo>
                  <a:close/>
                </a:path>
              </a:pathLst>
            </a:custGeom>
            <a:solidFill>
              <a:srgbClr val="3B0D0F"/>
            </a:solidFill>
            <a:ln w="190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86738" cy="1819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06704" y="3666521"/>
            <a:ext cx="585671" cy="585671"/>
          </a:xfrm>
          <a:custGeom>
            <a:avLst/>
            <a:gdLst/>
            <a:ahLst/>
            <a:cxnLst/>
            <a:rect r="r" b="b" t="t" l="l"/>
            <a:pathLst>
              <a:path h="585671" w="585671">
                <a:moveTo>
                  <a:pt x="0" y="0"/>
                </a:moveTo>
                <a:lnTo>
                  <a:pt x="585671" y="0"/>
                </a:lnTo>
                <a:lnTo>
                  <a:pt x="585671" y="585671"/>
                </a:lnTo>
                <a:lnTo>
                  <a:pt x="0" y="58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34534" y="4252192"/>
            <a:ext cx="6665355" cy="2705839"/>
            <a:chOff x="0" y="0"/>
            <a:chExt cx="1032638" cy="419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638" cy="419205"/>
            </a:xfrm>
            <a:custGeom>
              <a:avLst/>
              <a:gdLst/>
              <a:ahLst/>
              <a:cxnLst/>
              <a:rect r="r" b="b" t="t" l="l"/>
              <a:pathLst>
                <a:path h="419205" w="1032638">
                  <a:moveTo>
                    <a:pt x="29038" y="0"/>
                  </a:moveTo>
                  <a:lnTo>
                    <a:pt x="1003600" y="0"/>
                  </a:lnTo>
                  <a:cubicBezTo>
                    <a:pt x="1019637" y="0"/>
                    <a:pt x="1032638" y="13001"/>
                    <a:pt x="1032638" y="29038"/>
                  </a:cubicBezTo>
                  <a:lnTo>
                    <a:pt x="1032638" y="390167"/>
                  </a:lnTo>
                  <a:cubicBezTo>
                    <a:pt x="1032638" y="397869"/>
                    <a:pt x="1029579" y="405255"/>
                    <a:pt x="1024133" y="410700"/>
                  </a:cubicBezTo>
                  <a:cubicBezTo>
                    <a:pt x="1018687" y="416146"/>
                    <a:pt x="1011301" y="419205"/>
                    <a:pt x="1003600" y="419205"/>
                  </a:cubicBezTo>
                  <a:lnTo>
                    <a:pt x="29038" y="419205"/>
                  </a:lnTo>
                  <a:cubicBezTo>
                    <a:pt x="13001" y="419205"/>
                    <a:pt x="0" y="406205"/>
                    <a:pt x="0" y="390167"/>
                  </a:cubicBezTo>
                  <a:lnTo>
                    <a:pt x="0" y="29038"/>
                  </a:lnTo>
                  <a:cubicBezTo>
                    <a:pt x="0" y="21337"/>
                    <a:pt x="3059" y="13951"/>
                    <a:pt x="8505" y="8505"/>
                  </a:cubicBezTo>
                  <a:cubicBezTo>
                    <a:pt x="13951" y="3059"/>
                    <a:pt x="21337" y="0"/>
                    <a:pt x="290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98" r="0" b="-432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5865" y="4252192"/>
            <a:ext cx="7363675" cy="5342083"/>
            <a:chOff x="0" y="0"/>
            <a:chExt cx="1140826" cy="8276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826" cy="827628"/>
            </a:xfrm>
            <a:custGeom>
              <a:avLst/>
              <a:gdLst/>
              <a:ahLst/>
              <a:cxnLst/>
              <a:rect r="r" b="b" t="t" l="l"/>
              <a:pathLst>
                <a:path h="827628" w="1140826">
                  <a:moveTo>
                    <a:pt x="26284" y="0"/>
                  </a:moveTo>
                  <a:lnTo>
                    <a:pt x="1114542" y="0"/>
                  </a:lnTo>
                  <a:cubicBezTo>
                    <a:pt x="1121513" y="0"/>
                    <a:pt x="1128198" y="2769"/>
                    <a:pt x="1133127" y="7698"/>
                  </a:cubicBezTo>
                  <a:cubicBezTo>
                    <a:pt x="1138057" y="12628"/>
                    <a:pt x="1140826" y="19313"/>
                    <a:pt x="1140826" y="26284"/>
                  </a:cubicBezTo>
                  <a:lnTo>
                    <a:pt x="1140826" y="801344"/>
                  </a:lnTo>
                  <a:cubicBezTo>
                    <a:pt x="1140826" y="815861"/>
                    <a:pt x="1129058" y="827628"/>
                    <a:pt x="1114542" y="827628"/>
                  </a:cubicBezTo>
                  <a:lnTo>
                    <a:pt x="26284" y="827628"/>
                  </a:lnTo>
                  <a:cubicBezTo>
                    <a:pt x="19313" y="827628"/>
                    <a:pt x="12628" y="824859"/>
                    <a:pt x="7698" y="819930"/>
                  </a:cubicBezTo>
                  <a:cubicBezTo>
                    <a:pt x="2769" y="815001"/>
                    <a:pt x="0" y="808315"/>
                    <a:pt x="0" y="801344"/>
                  </a:cubicBezTo>
                  <a:lnTo>
                    <a:pt x="0" y="26284"/>
                  </a:lnTo>
                  <a:cubicBezTo>
                    <a:pt x="0" y="19313"/>
                    <a:pt x="2769" y="12628"/>
                    <a:pt x="7698" y="7698"/>
                  </a:cubicBezTo>
                  <a:cubicBezTo>
                    <a:pt x="12628" y="2769"/>
                    <a:pt x="19313" y="0"/>
                    <a:pt x="2628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921" r="0" b="-1892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93187" y="-179938"/>
            <a:ext cx="18474375" cy="10646876"/>
          </a:xfrm>
          <a:custGeom>
            <a:avLst/>
            <a:gdLst/>
            <a:ahLst/>
            <a:cxnLst/>
            <a:rect r="r" b="b" t="t" l="l"/>
            <a:pathLst>
              <a:path h="10646876" w="18474375">
                <a:moveTo>
                  <a:pt x="0" y="0"/>
                </a:moveTo>
                <a:lnTo>
                  <a:pt x="18474374" y="0"/>
                </a:lnTo>
                <a:lnTo>
                  <a:pt x="18474374" y="10646876"/>
                </a:lnTo>
                <a:lnTo>
                  <a:pt x="0" y="1064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7" t="0" r="-1227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1134" y="2760198"/>
            <a:ext cx="16956705" cy="6287675"/>
            <a:chOff x="0" y="0"/>
            <a:chExt cx="4465964" cy="16560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65963" cy="1656013"/>
            </a:xfrm>
            <a:custGeom>
              <a:avLst/>
              <a:gdLst/>
              <a:ahLst/>
              <a:cxnLst/>
              <a:rect r="r" b="b" t="t" l="l"/>
              <a:pathLst>
                <a:path h="1656013" w="4465963">
                  <a:moveTo>
                    <a:pt x="31047" y="0"/>
                  </a:moveTo>
                  <a:lnTo>
                    <a:pt x="4434917" y="0"/>
                  </a:lnTo>
                  <a:cubicBezTo>
                    <a:pt x="4443151" y="0"/>
                    <a:pt x="4451048" y="3271"/>
                    <a:pt x="4456870" y="9093"/>
                  </a:cubicBezTo>
                  <a:cubicBezTo>
                    <a:pt x="4462692" y="14916"/>
                    <a:pt x="4465963" y="22813"/>
                    <a:pt x="4465963" y="31047"/>
                  </a:cubicBezTo>
                  <a:lnTo>
                    <a:pt x="4465963" y="1624967"/>
                  </a:lnTo>
                  <a:cubicBezTo>
                    <a:pt x="4465963" y="1633201"/>
                    <a:pt x="4462692" y="1641098"/>
                    <a:pt x="4456870" y="1646920"/>
                  </a:cubicBezTo>
                  <a:cubicBezTo>
                    <a:pt x="4451048" y="1652742"/>
                    <a:pt x="4443151" y="1656013"/>
                    <a:pt x="4434917" y="1656013"/>
                  </a:cubicBezTo>
                  <a:lnTo>
                    <a:pt x="31047" y="1656013"/>
                  </a:lnTo>
                  <a:cubicBezTo>
                    <a:pt x="22813" y="1656013"/>
                    <a:pt x="14916" y="1652742"/>
                    <a:pt x="9093" y="1646920"/>
                  </a:cubicBezTo>
                  <a:cubicBezTo>
                    <a:pt x="3271" y="1641098"/>
                    <a:pt x="0" y="1633201"/>
                    <a:pt x="0" y="1624967"/>
                  </a:cubicBezTo>
                  <a:lnTo>
                    <a:pt x="0" y="31047"/>
                  </a:lnTo>
                  <a:cubicBezTo>
                    <a:pt x="0" y="22813"/>
                    <a:pt x="3271" y="14916"/>
                    <a:pt x="9093" y="9093"/>
                  </a:cubicBezTo>
                  <a:cubicBezTo>
                    <a:pt x="14916" y="3271"/>
                    <a:pt x="22813" y="0"/>
                    <a:pt x="310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20C0D">
                    <a:alpha val="56000"/>
                  </a:srgbClr>
                </a:gs>
                <a:gs pos="33333">
                  <a:srgbClr val="320C0D">
                    <a:alpha val="0"/>
                  </a:srgbClr>
                </a:gs>
                <a:gs pos="66667">
                  <a:srgbClr val="E4940B">
                    <a:alpha val="0"/>
                  </a:srgbClr>
                </a:gs>
                <a:gs pos="100000">
                  <a:srgbClr val="FF3600">
                    <a:alpha val="56000"/>
                  </a:srgbClr>
                </a:gs>
              </a:gsLst>
              <a:lin ang="0"/>
            </a:gradFill>
            <a:ln w="19050" cap="rnd">
              <a:solidFill>
                <a:srgbClr val="FF3131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465964" cy="1684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51368" y="3295661"/>
            <a:ext cx="15907932" cy="504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sz="3577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Our AI-driven application demonstrates scalable, user-friendly diabetes risk assessment grounded in clinical evidence.</a:t>
            </a:r>
          </a:p>
          <a:p>
            <a:pPr algn="ctr">
              <a:lnSpc>
                <a:spcPts val="5007"/>
              </a:lnSpc>
            </a:pPr>
          </a:p>
          <a:p>
            <a:pPr algn="ctr">
              <a:lnSpc>
                <a:spcPts val="5007"/>
              </a:lnSpc>
            </a:pPr>
            <a:r>
              <a:rPr lang="en-US" sz="3577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Combines innovative frontend, AI models, and backend technologies to empower preventive healthcare.</a:t>
            </a:r>
          </a:p>
          <a:p>
            <a:pPr algn="ctr">
              <a:lnSpc>
                <a:spcPts val="5007"/>
              </a:lnSpc>
            </a:pPr>
          </a:p>
          <a:p>
            <a:pPr algn="ctr">
              <a:lnSpc>
                <a:spcPts val="5007"/>
              </a:lnSpc>
              <a:spcBef>
                <a:spcPct val="0"/>
              </a:spcBef>
            </a:pPr>
            <a:r>
              <a:rPr lang="en-US" sz="3577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Aligns with national and global health objectives toward early detection and management of diabetes.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3009" y="895350"/>
            <a:ext cx="6844254" cy="115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7"/>
              </a:lnSpc>
              <a:spcBef>
                <a:spcPct val="0"/>
              </a:spcBef>
            </a:pPr>
            <a:r>
              <a:rPr lang="en-US" sz="6719" spc="-1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DAG0un4Rg8Y</dc:identifier>
  <dcterms:modified xsi:type="dcterms:W3CDTF">2011-08-01T06:04:30Z</dcterms:modified>
  <cp:revision>1</cp:revision>
  <dc:title>Red Modern Autoimmune Disease Presentation</dc:title>
</cp:coreProperties>
</file>