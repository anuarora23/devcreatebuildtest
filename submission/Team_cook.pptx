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4"/>
  </p:notesMasterIdLst>
  <p:sldIdLst>
    <p:sldId id="266" r:id="rId2"/>
    <p:sldId id="256" r:id="rId3"/>
    <p:sldId id="257" r:id="rId4"/>
    <p:sldId id="258" r:id="rId5"/>
    <p:sldId id="259" r:id="rId6"/>
    <p:sldId id="260" r:id="rId7"/>
    <p:sldId id="261" r:id="rId8"/>
    <p:sldId id="264" r:id="rId9"/>
    <p:sldId id="269" r:id="rId10"/>
    <p:sldId id="267" r:id="rId11"/>
    <p:sldId id="268" r:id="rId12"/>
    <p:sldId id="270" r:id="rId13"/>
  </p:sldIdLst>
  <p:sldSz cx="14630400" cy="8229600"/>
  <p:notesSz cx="8229600" cy="146304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Open Sans" panose="020B0604020202020204" charset="0"/>
      <p:regular r:id="rId19"/>
    </p:embeddedFont>
    <p:embeddedFont>
      <p:font typeface="Malgun Gothic" panose="020B0503020000020004" pitchFamily="34" charset="-127"/>
      <p:regular r:id="rId20"/>
      <p:bold r:id="rId21"/>
    </p:embeddedFont>
    <p:embeddedFont>
      <p:font typeface="Arial Rounded MT Bold" panose="020F0704030504030204" pitchFamily="34" charset="0"/>
      <p:regular r:id="rId22"/>
    </p:embeddedFont>
  </p:embeddedFontLst>
  <p:defaultTextStyle>
    <a:defPPr>
      <a:defRPr lang="en-US"/>
    </a:defPPr>
    <a:lvl1pPr marL="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3pPr>
    <a:lvl4pPr marL="1371531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4" rtl="0" eaLnBrk="1" latinLnBrk="0" hangingPunct="1">
      <a:defRPr sz="19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2">
          <p15:clr>
            <a:srgbClr val="A4A3A4"/>
          </p15:clr>
        </p15:guide>
        <p15:guide id="2" pos="460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5F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15" autoAdjust="0"/>
    <p:restoredTop sz="94629" autoAdjust="0"/>
  </p:normalViewPr>
  <p:slideViewPr>
    <p:cSldViewPr snapToGrid="0" snapToObjects="1">
      <p:cViewPr varScale="1">
        <p:scale>
          <a:sx n="75" d="100"/>
          <a:sy n="75" d="100"/>
        </p:scale>
        <p:origin x="754" y="43"/>
      </p:cViewPr>
      <p:guideLst>
        <p:guide orient="horz" pos="2592"/>
        <p:guide pos="460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565525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660900" y="0"/>
            <a:ext cx="3567113" cy="7318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E482C5-9E4C-4B90-A339-28AED8DBBB6A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762000" y="1096963"/>
            <a:ext cx="9753600" cy="5486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822325" y="6950075"/>
            <a:ext cx="6584950" cy="65833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896975"/>
            <a:ext cx="3565525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660900" y="13896975"/>
            <a:ext cx="3567113" cy="7302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6C2B84-B8CB-4B1B-893D-E3C53652AE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8956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57177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914354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371531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828709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285886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743063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200240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657417" algn="l" defTabSz="914354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762000" y="1096963"/>
            <a:ext cx="9753600" cy="54864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2556511"/>
            <a:ext cx="12435840" cy="176403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94560" y="4663440"/>
            <a:ext cx="10241280" cy="210312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53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062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959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1244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2655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918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57177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2248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564C-C5A7-45C5-8D35-7D491015AF9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6370D-1AFC-4732-AA36-7B946D989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587318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564C-C5A7-45C5-8D35-7D491015AF9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6370D-1AFC-4732-AA36-7B946D989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341882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5701" y="5288281"/>
            <a:ext cx="12435840" cy="163449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5701" y="3488056"/>
            <a:ext cx="12435840" cy="1800224"/>
          </a:xfrm>
        </p:spPr>
        <p:txBody>
          <a:bodyPr anchor="b"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653110" indent="0">
              <a:buNone/>
              <a:defRPr sz="2600">
                <a:solidFill>
                  <a:schemeClr val="tx1">
                    <a:tint val="75000"/>
                  </a:schemeClr>
                </a:solidFill>
              </a:defRPr>
            </a:lvl2pPr>
            <a:lvl3pPr marL="130622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3pPr>
            <a:lvl4pPr marL="195933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4pPr>
            <a:lvl5pPr marL="261244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5pPr>
            <a:lvl6pPr marL="326555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6pPr>
            <a:lvl7pPr marL="391866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7pPr>
            <a:lvl8pPr marL="4571771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8pPr>
            <a:lvl9pPr marL="522488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564C-C5A7-45C5-8D35-7D491015AF9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6370D-1AFC-4732-AA36-7B946D989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062422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31520" y="1920240"/>
            <a:ext cx="6461760" cy="543115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37120" y="1920240"/>
            <a:ext cx="6461760" cy="5431156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564C-C5A7-45C5-8D35-7D491015AF9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6370D-1AFC-4732-AA36-7B946D989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675958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842136"/>
            <a:ext cx="6464301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1520" y="2609850"/>
            <a:ext cx="6464301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32041" y="1842136"/>
            <a:ext cx="6466840" cy="767714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32041" y="2609850"/>
            <a:ext cx="6466840" cy="4741546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564C-C5A7-45C5-8D35-7D491015AF9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6370D-1AFC-4732-AA36-7B946D989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787869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564C-C5A7-45C5-8D35-7D491015AF9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6370D-1AFC-4732-AA36-7B946D989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1970198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564C-C5A7-45C5-8D35-7D491015AF9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6370D-1AFC-4732-AA36-7B946D989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621533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1521" y="327660"/>
            <a:ext cx="4813301" cy="1394460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20080" y="327660"/>
            <a:ext cx="8178800" cy="7023736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31521" y="1722120"/>
            <a:ext cx="4813301" cy="5629276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564C-C5A7-45C5-8D35-7D491015AF9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6370D-1AFC-4732-AA36-7B946D989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2280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67661" y="5760720"/>
            <a:ext cx="8778240" cy="680086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67661" y="735330"/>
            <a:ext cx="8778240" cy="493776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67661" y="6440806"/>
            <a:ext cx="8778240" cy="965834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564C-C5A7-45C5-8D35-7D491015AF9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6370D-1AFC-4732-AA36-7B946D989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671207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564C-C5A7-45C5-8D35-7D491015AF9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6370D-1AFC-4732-AA36-7B946D989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44713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607040" y="329566"/>
            <a:ext cx="3291840" cy="702183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31520" y="329566"/>
            <a:ext cx="9631680" cy="702183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0564C-C5A7-45C5-8D35-7D491015AF9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36370D-1AFC-4732-AA36-7B946D989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4899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1520" y="329566"/>
            <a:ext cx="13167360" cy="1371600"/>
          </a:xfrm>
          <a:prstGeom prst="rect">
            <a:avLst/>
          </a:prstGeom>
        </p:spPr>
        <p:txBody>
          <a:bodyPr vert="horz" lIns="130622" tIns="65311" rIns="130622" bIns="65311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1520" y="1920240"/>
            <a:ext cx="13167360" cy="5431156"/>
          </a:xfrm>
          <a:prstGeom prst="rect">
            <a:avLst/>
          </a:prstGeom>
        </p:spPr>
        <p:txBody>
          <a:bodyPr vert="horz" lIns="130622" tIns="65311" rIns="130622" bIns="65311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1520" y="7627621"/>
            <a:ext cx="341376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l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0564C-C5A7-45C5-8D35-7D491015AF9D}" type="datetimeFigureOut">
              <a:rPr lang="en-IN" smtClean="0"/>
              <a:t>04-10-2025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98720" y="7627621"/>
            <a:ext cx="463296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ct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85120" y="7627621"/>
            <a:ext cx="3413760" cy="438150"/>
          </a:xfrm>
          <a:prstGeom prst="rect">
            <a:avLst/>
          </a:prstGeom>
        </p:spPr>
        <p:txBody>
          <a:bodyPr vert="horz" lIns="130622" tIns="65311" rIns="130622" bIns="65311" rtlCol="0" anchor="ctr"/>
          <a:lstStyle>
            <a:lvl1pPr algn="r">
              <a:defRPr sz="1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36370D-1AFC-4732-AA36-7B946D9896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307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80" r:id="rId18"/>
  </p:sldLayoutIdLst>
  <p:hf sldNum="0" hdr="0" ftr="0" dt="0"/>
  <p:txStyles>
    <p:titleStyle>
      <a:lvl1pPr algn="ctr" defTabSz="1306220" rtl="0" eaLnBrk="1" latinLnBrk="0" hangingPunct="1">
        <a:spcBef>
          <a:spcPct val="0"/>
        </a:spcBef>
        <a:buNone/>
        <a:defRPr sz="6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89833" indent="-489833" algn="l" defTabSz="1306220" rtl="0" eaLnBrk="1" latinLnBrk="0" hangingPunct="1">
        <a:spcBef>
          <a:spcPct val="20000"/>
        </a:spcBef>
        <a:buFont typeface="Arial" pitchFamily="34" charset="0"/>
        <a:buChar char="•"/>
        <a:defRPr sz="4600" kern="1200">
          <a:solidFill>
            <a:schemeClr val="tx1"/>
          </a:solidFill>
          <a:latin typeface="+mn-lt"/>
          <a:ea typeface="+mn-ea"/>
          <a:cs typeface="+mn-cs"/>
        </a:defRPr>
      </a:lvl1pPr>
      <a:lvl2pPr marL="1061304" indent="-408194" algn="l" defTabSz="1306220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32776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3400" kern="1200">
          <a:solidFill>
            <a:schemeClr val="tx1"/>
          </a:solidFill>
          <a:latin typeface="+mn-lt"/>
          <a:ea typeface="+mn-ea"/>
          <a:cs typeface="+mn-cs"/>
        </a:defRPr>
      </a:lvl3pPr>
      <a:lvl4pPr marL="2285886" indent="-326555" algn="l" defTabSz="1306220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2938996" indent="-326555" algn="l" defTabSz="1306220" rtl="0" eaLnBrk="1" latinLnBrk="0" hangingPunct="1">
        <a:spcBef>
          <a:spcPct val="20000"/>
        </a:spcBef>
        <a:buFont typeface="Arial" pitchFamily="34" charset="0"/>
        <a:buChar char="»"/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592106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245216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4898327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551437" indent="-326555" algn="l" defTabSz="1306220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130622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5" Type="http://schemas.openxmlformats.org/officeDocument/2006/relationships/image" Target="../media/image7.jpe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19.jpe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5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26.png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0820" y="-684147"/>
            <a:ext cx="7962748" cy="7305575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887" t="35525" r="22500" b="37922"/>
          <a:stretch/>
        </p:blipFill>
        <p:spPr>
          <a:xfrm>
            <a:off x="5553776" y="5709394"/>
            <a:ext cx="3464681" cy="162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378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07163" y="77120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5400" b="1" dirty="0" smtClean="0">
                <a:solidFill>
                  <a:schemeClr val="accent2"/>
                </a:solidFill>
                <a:latin typeface="Arial Rounded MT Bold" pitchFamily="34" charset="0"/>
                <a:ea typeface="Malgun Gothic" pitchFamily="34" charset="-127"/>
                <a:cs typeface="Playfair Display Bold" pitchFamily="34" charset="-120"/>
              </a:rPr>
              <a:t>INTRODUCTION</a:t>
            </a:r>
            <a:endParaRPr lang="en-US" sz="5400" b="1" dirty="0">
              <a:solidFill>
                <a:schemeClr val="accent2"/>
              </a:solidFill>
              <a:latin typeface="Arial Rounded MT Bold" pitchFamily="34" charset="0"/>
              <a:ea typeface="Malgun Gothic" pitchFamily="34" charset="-127"/>
            </a:endParaRPr>
          </a:p>
        </p:txBody>
      </p:sp>
      <p:sp>
        <p:nvSpPr>
          <p:cNvPr id="4" name="Text 1"/>
          <p:cNvSpPr/>
          <p:nvPr/>
        </p:nvSpPr>
        <p:spPr>
          <a:xfrm>
            <a:off x="813042" y="208616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285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Women’s safety remains one of the</a:t>
            </a:r>
          </a:p>
          <a:p>
            <a:pPr>
              <a:lnSpc>
                <a:spcPts val="2850"/>
              </a:lnSpc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    most pressing global challenges, both in </a:t>
            </a:r>
          </a:p>
          <a:p>
            <a:pPr>
              <a:lnSpc>
                <a:spcPts val="2850"/>
              </a:lnSpc>
            </a:pP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     physical spaces and in digital environments.</a:t>
            </a:r>
          </a:p>
          <a:p>
            <a:pPr>
              <a:lnSpc>
                <a:spcPts val="2850"/>
              </a:lnSpc>
            </a:pP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 </a:t>
            </a:r>
          </a:p>
          <a:p>
            <a:pPr marL="342900" indent="-342900">
              <a:lnSpc>
                <a:spcPts val="285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While several mobile applications and</a:t>
            </a:r>
          </a:p>
          <a:p>
            <a:pPr>
              <a:lnSpc>
                <a:spcPts val="2850"/>
              </a:lnSpc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    community initiatives exist,</a:t>
            </a:r>
          </a:p>
          <a:p>
            <a:pPr>
              <a:lnSpc>
                <a:spcPts val="2850"/>
              </a:lnSpc>
            </a:pPr>
            <a:endParaRPr lang="en-US" sz="2400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lnSpc>
                <a:spcPts val="285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They primarily focus on reactive responses</a:t>
            </a:r>
          </a:p>
          <a:p>
            <a:pPr>
              <a:lnSpc>
                <a:spcPts val="2850"/>
              </a:lnSpc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    (panic buttons, emergency calling) or provide limited</a:t>
            </a:r>
          </a:p>
          <a:p>
            <a:pPr>
              <a:lnSpc>
                <a:spcPts val="2850"/>
              </a:lnSpc>
            </a:pP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     reporting capabilities. </a:t>
            </a:r>
          </a:p>
          <a:p>
            <a:pPr>
              <a:lnSpc>
                <a:spcPts val="2850"/>
              </a:lnSpc>
            </a:pPr>
            <a:endParaRPr lang="en-US" sz="2400" dirty="0" smtClean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lnSpc>
                <a:spcPts val="2850"/>
              </a:lnSpc>
              <a:buFont typeface="Arial" pitchFamily="34" charset="0"/>
              <a:buChar char="•"/>
            </a:pP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None successfully integrate the power of community-driven </a:t>
            </a:r>
          </a:p>
          <a:p>
            <a:pPr>
              <a:lnSpc>
                <a:spcPts val="2850"/>
              </a:lnSpc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    reporting, reputation building, and Open Source Intelligence </a:t>
            </a:r>
          </a:p>
          <a:p>
            <a:pPr>
              <a:lnSpc>
                <a:spcPts val="2850"/>
              </a:lnSpc>
            </a:pPr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 </a:t>
            </a: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    (OSINT) into a single structured ecosystem.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4610" y="0"/>
            <a:ext cx="6400800" cy="82296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184347" y="712033"/>
            <a:ext cx="7748110" cy="623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900"/>
              </a:lnSpc>
            </a:pPr>
            <a:r>
              <a:rPr lang="en-US" sz="5400" b="1" dirty="0" smtClean="0">
                <a:solidFill>
                  <a:schemeClr val="accent2">
                    <a:lumMod val="75000"/>
                  </a:schemeClr>
                </a:solidFill>
                <a:latin typeface="Arial Rounded MT Bold" pitchFamily="34" charset="0"/>
              </a:rPr>
              <a:t>OBJECTIVES</a:t>
            </a:r>
            <a:endParaRPr lang="en-US" sz="5400" b="1" dirty="0">
              <a:solidFill>
                <a:schemeClr val="accent2">
                  <a:lumMod val="7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184344" y="1556467"/>
            <a:ext cx="7748110" cy="63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The objective of </a:t>
            </a:r>
            <a:r>
              <a:rPr lang="en-US" sz="2400" dirty="0" err="1" smtClean="0">
                <a:solidFill>
                  <a:schemeClr val="accent2">
                    <a:lumMod val="50000"/>
                  </a:schemeClr>
                </a:solidFill>
              </a:rPr>
              <a:t>noTease</a:t>
            </a:r>
            <a:r>
              <a:rPr lang="en-US" sz="2400" dirty="0" smtClean="0">
                <a:solidFill>
                  <a:schemeClr val="accent2">
                    <a:lumMod val="50000"/>
                  </a:schemeClr>
                </a:solidFill>
              </a:rPr>
              <a:t> is to create a location-aware, community-centric safety network where individuals can:</a:t>
            </a:r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5" name="Shape 2"/>
          <p:cNvSpPr/>
          <p:nvPr/>
        </p:nvSpPr>
        <p:spPr>
          <a:xfrm>
            <a:off x="6184344" y="2956086"/>
            <a:ext cx="3774400" cy="2151817"/>
          </a:xfrm>
          <a:prstGeom prst="roundRect">
            <a:avLst>
              <a:gd name="adj" fmla="val 139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6516" y="3552634"/>
            <a:ext cx="3330059" cy="7874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600" dirty="0" smtClean="0"/>
              <a:t>• Quickly report suspicious incidents or encounters in their vicinity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0158054" y="2956086"/>
            <a:ext cx="3774400" cy="2151817"/>
          </a:xfrm>
          <a:prstGeom prst="roundRect">
            <a:avLst>
              <a:gd name="adj" fmla="val 139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80228" y="3552541"/>
            <a:ext cx="3330059" cy="957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600" dirty="0" smtClean="0"/>
              <a:t>• Engage in threaded discussions with others who have observed similar activities.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84347" y="5307209"/>
            <a:ext cx="3774397" cy="2018895"/>
          </a:xfrm>
          <a:prstGeom prst="roundRect">
            <a:avLst>
              <a:gd name="adj" fmla="val 1976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06516" y="5529383"/>
            <a:ext cx="2492693" cy="3115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450"/>
              </a:lnSpc>
            </a:pP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6406515" y="5560728"/>
            <a:ext cx="7303770" cy="63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600" dirty="0" smtClean="0"/>
              <a:t>• Build collective case files that</a:t>
            </a:r>
          </a:p>
          <a:p>
            <a:pPr>
              <a:lnSpc>
                <a:spcPts val="2500"/>
              </a:lnSpc>
            </a:pPr>
            <a:r>
              <a:rPr lang="en-US" sz="1600" dirty="0" smtClean="0"/>
              <a:t> accumulate evidence, reports, and </a:t>
            </a:r>
          </a:p>
          <a:p>
            <a:pPr>
              <a:lnSpc>
                <a:spcPts val="2500"/>
              </a:lnSpc>
            </a:pPr>
            <a:r>
              <a:rPr lang="en-US" sz="1600" dirty="0" smtClean="0"/>
              <a:t>context over time.</a:t>
            </a:r>
            <a:endParaRPr lang="en-US" sz="1600" dirty="0"/>
          </a:p>
        </p:txBody>
      </p:sp>
      <p:sp>
        <p:nvSpPr>
          <p:cNvPr id="15" name="Shape 5"/>
          <p:cNvSpPr/>
          <p:nvPr/>
        </p:nvSpPr>
        <p:spPr>
          <a:xfrm>
            <a:off x="10245474" y="5322334"/>
            <a:ext cx="3774400" cy="2003772"/>
          </a:xfrm>
          <a:prstGeom prst="roundRect">
            <a:avLst>
              <a:gd name="adj" fmla="val 1390"/>
            </a:avLst>
          </a:prstGeom>
          <a:solidFill>
            <a:srgbClr val="F3F3F7"/>
          </a:solidFill>
          <a:ln w="22860">
            <a:solidFill>
              <a:srgbClr val="C6C6D2"/>
            </a:solidFill>
            <a:prstDash val="solid"/>
          </a:ln>
        </p:spPr>
      </p:sp>
      <p:sp>
        <p:nvSpPr>
          <p:cNvPr id="16" name="Text 4"/>
          <p:cNvSpPr/>
          <p:nvPr/>
        </p:nvSpPr>
        <p:spPr>
          <a:xfrm>
            <a:off x="10467644" y="5529383"/>
            <a:ext cx="3330059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00"/>
              </a:lnSpc>
            </a:pPr>
            <a:r>
              <a:rPr lang="en-US" sz="1600" dirty="0" smtClean="0"/>
              <a:t>• Identify recurring patterns in behavior or locations through OSINT-assisted aggregation</a:t>
            </a:r>
            <a:endParaRPr lang="en-US" sz="1600" dirty="0"/>
          </a:p>
        </p:txBody>
      </p:sp>
      <p:sp>
        <p:nvSpPr>
          <p:cNvPr id="17" name="AutoShape 2" descr="Safety Stock Vectors and Vector Ar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" name="AutoShape 4" descr="Safety Stock Vectors and Vector Art ...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" name="AutoShape 6" descr="Safety Stock Vectors and Vector Art ..."/>
          <p:cNvSpPr>
            <a:spLocks noChangeAspect="1" noChangeArrowheads="1"/>
          </p:cNvSpPr>
          <p:nvPr/>
        </p:nvSpPr>
        <p:spPr bwMode="auto">
          <a:xfrm>
            <a:off x="460375" y="1603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5128" name="Picture 8" descr="649 Womens Safety Stock Vectors and Vector Art | Shutterstock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08" r="15490" b="8510"/>
          <a:stretch/>
        </p:blipFill>
        <p:spPr bwMode="auto">
          <a:xfrm>
            <a:off x="67377" y="182035"/>
            <a:ext cx="5746283" cy="7528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280191" y="707948"/>
            <a:ext cx="74841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5400" b="1" dirty="0" smtClean="0">
                <a:solidFill>
                  <a:schemeClr val="accent2">
                    <a:lumMod val="75000"/>
                  </a:schemeClr>
                </a:solidFill>
                <a:latin typeface="Arial Rounded MT Bold" pitchFamily="34" charset="0"/>
                <a:ea typeface="Playfair Display Bold" pitchFamily="34" charset="-122"/>
                <a:cs typeface="Playfair Display Bold" pitchFamily="34" charset="-120"/>
              </a:rPr>
              <a:t>Motivation</a:t>
            </a:r>
            <a:endParaRPr lang="en-US" sz="5400" dirty="0">
              <a:solidFill>
                <a:schemeClr val="accent2">
                  <a:lumMod val="7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1" y="1756886"/>
            <a:ext cx="7556421" cy="725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</a:rPr>
              <a:t>Current applications for women’s safety (e.g., “panic button” apps, location sharing tools) exhibit significant gaps: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0191" y="2737842"/>
            <a:ext cx="226814" cy="283488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6280191" y="3092887"/>
            <a:ext cx="3664744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7" name="Text 3"/>
          <p:cNvSpPr/>
          <p:nvPr/>
        </p:nvSpPr>
        <p:spPr>
          <a:xfrm>
            <a:off x="6280190" y="3267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100" b="1" dirty="0" smtClean="0">
                <a:solidFill>
                  <a:schemeClr val="accent2">
                    <a:lumMod val="7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Reactive Design</a:t>
            </a:r>
            <a:endParaRPr lang="en-US" sz="21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8" name="Text 4"/>
          <p:cNvSpPr/>
          <p:nvPr/>
        </p:nvSpPr>
        <p:spPr>
          <a:xfrm>
            <a:off x="6280191" y="3757613"/>
            <a:ext cx="366474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800" dirty="0" smtClean="0"/>
              <a:t>They assist only after an emergency occurs.</a:t>
            </a:r>
            <a:endParaRPr lang="en-US" sz="17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1748" y="2737842"/>
            <a:ext cx="226814" cy="283488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0171750" y="3092887"/>
            <a:ext cx="3664862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1" name="Text 6"/>
          <p:cNvSpPr/>
          <p:nvPr/>
        </p:nvSpPr>
        <p:spPr>
          <a:xfrm>
            <a:off x="10171749" y="326719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750"/>
              </a:lnSpc>
            </a:pPr>
            <a:r>
              <a:rPr lang="en-US" sz="2400" dirty="0" smtClean="0">
                <a:solidFill>
                  <a:schemeClr val="accent2">
                    <a:lumMod val="75000"/>
                  </a:schemeClr>
                </a:solidFill>
              </a:rPr>
              <a:t> </a:t>
            </a:r>
            <a:r>
              <a:rPr lang="en-US" sz="2100" b="1" dirty="0" smtClean="0">
                <a:solidFill>
                  <a:schemeClr val="accent2">
                    <a:lumMod val="75000"/>
                  </a:schemeClr>
                </a:solidFill>
                <a:latin typeface="Playfair Display Bold"/>
                <a:ea typeface="Playfair Display Bold"/>
              </a:rPr>
              <a:t>Isolation</a:t>
            </a:r>
            <a:endParaRPr lang="en-US" sz="2100" b="1" dirty="0">
              <a:solidFill>
                <a:schemeClr val="accent2">
                  <a:lumMod val="75000"/>
                </a:schemeClr>
              </a:solidFill>
              <a:latin typeface="Playfair Display Bold"/>
              <a:ea typeface="Playfair Display Bold"/>
            </a:endParaRPr>
          </a:p>
        </p:txBody>
      </p:sp>
      <p:sp>
        <p:nvSpPr>
          <p:cNvPr id="12" name="Text 7"/>
          <p:cNvSpPr/>
          <p:nvPr/>
        </p:nvSpPr>
        <p:spPr>
          <a:xfrm>
            <a:off x="10171750" y="3757614"/>
            <a:ext cx="3664862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800" dirty="0" smtClean="0"/>
              <a:t>Reports remain </a:t>
            </a:r>
            <a:r>
              <a:rPr lang="en-US" sz="1800" dirty="0" err="1" smtClean="0"/>
              <a:t>siloed</a:t>
            </a:r>
            <a:r>
              <a:rPr lang="en-US" sz="1800" dirty="0" smtClean="0"/>
              <a:t>, lacking broader community validation</a:t>
            </a:r>
            <a:endParaRPr lang="en-US" sz="1700" dirty="0"/>
          </a:p>
        </p:txBody>
      </p:sp>
      <p:sp>
        <p:nvSpPr>
          <p:cNvPr id="17" name="Shape 2"/>
          <p:cNvSpPr/>
          <p:nvPr/>
        </p:nvSpPr>
        <p:spPr>
          <a:xfrm>
            <a:off x="6280190" y="5064462"/>
            <a:ext cx="3664744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8" name="Shape 2"/>
          <p:cNvSpPr/>
          <p:nvPr/>
        </p:nvSpPr>
        <p:spPr>
          <a:xfrm>
            <a:off x="10171868" y="5049222"/>
            <a:ext cx="3664744" cy="30480"/>
          </a:xfrm>
          <a:prstGeom prst="rect">
            <a:avLst/>
          </a:prstGeom>
          <a:solidFill>
            <a:srgbClr val="101014"/>
          </a:solidFill>
          <a:ln/>
        </p:spPr>
      </p:sp>
      <p:sp>
        <p:nvSpPr>
          <p:cNvPr id="19" name="Rectangle 18"/>
          <p:cNvSpPr/>
          <p:nvPr/>
        </p:nvSpPr>
        <p:spPr>
          <a:xfrm>
            <a:off x="6345164" y="5332887"/>
            <a:ext cx="2063385" cy="42736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50"/>
              </a:lnSpc>
            </a:pPr>
            <a:r>
              <a:rPr lang="en-US" sz="2000" b="1" dirty="0" smtClean="0">
                <a:solidFill>
                  <a:schemeClr val="accent2">
                    <a:lumMod val="7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Shallow Insight</a:t>
            </a:r>
            <a:endParaRPr lang="en-US" sz="20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10285155" y="5332887"/>
            <a:ext cx="2262158" cy="42075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750"/>
              </a:lnSpc>
            </a:pPr>
            <a:r>
              <a:rPr lang="en-US" sz="1800" b="1" dirty="0" smtClean="0">
                <a:solidFill>
                  <a:schemeClr val="accent2">
                    <a:lumMod val="75000"/>
                  </a:schemeClr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Limited OSINT Use</a:t>
            </a:r>
            <a:endParaRPr lang="en-US" sz="18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0285155" y="5882022"/>
            <a:ext cx="3731534" cy="8108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ts val="2850"/>
              </a:lnSpc>
            </a:pPr>
            <a:r>
              <a:rPr lang="en-US" sz="2000" dirty="0" smtClean="0"/>
              <a:t>Modern intelligence practices are </a:t>
            </a:r>
          </a:p>
          <a:p>
            <a:pPr>
              <a:lnSpc>
                <a:spcPts val="2850"/>
              </a:lnSpc>
            </a:pPr>
            <a:r>
              <a:rPr lang="en-US" sz="2000" dirty="0" smtClean="0"/>
              <a:t>missing from existing safety apps. </a:t>
            </a:r>
            <a:endParaRPr lang="en-US" sz="2000" dirty="0"/>
          </a:p>
        </p:txBody>
      </p:sp>
      <p:sp>
        <p:nvSpPr>
          <p:cNvPr id="22" name="Rectangle 21"/>
          <p:cNvSpPr/>
          <p:nvPr/>
        </p:nvSpPr>
        <p:spPr>
          <a:xfrm>
            <a:off x="6280190" y="5907194"/>
            <a:ext cx="7315200" cy="96949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 smtClean="0"/>
              <a:t>No tools exist to connect multiple</a:t>
            </a:r>
          </a:p>
          <a:p>
            <a:r>
              <a:rPr lang="en-US" dirty="0" smtClean="0"/>
              <a:t> small incidents into broader behavioral </a:t>
            </a:r>
          </a:p>
          <a:p>
            <a:r>
              <a:rPr lang="en-US" dirty="0" smtClean="0"/>
              <a:t>patterns. </a:t>
            </a:r>
            <a:endParaRPr lang="en-IN" dirty="0"/>
          </a:p>
        </p:txBody>
      </p:sp>
      <p:pic>
        <p:nvPicPr>
          <p:cNvPr id="4102" name="Picture 6" descr="Understanding The Sexual Harassment of Women at Workplace (Prevention,  Prohibition and Redressal) Act 2013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38" t="1667" r="43500" b="985"/>
          <a:stretch/>
        </p:blipFill>
        <p:spPr bwMode="auto">
          <a:xfrm>
            <a:off x="117833" y="552431"/>
            <a:ext cx="5811329" cy="74990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9410" y="889185"/>
            <a:ext cx="6698186" cy="669818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5082" y="514708"/>
            <a:ext cx="7833837" cy="1169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600"/>
              </a:lnSpc>
            </a:pPr>
            <a:r>
              <a:rPr lang="en-US" sz="4500" b="1" dirty="0" smtClean="0">
                <a:solidFill>
                  <a:schemeClr val="accent2">
                    <a:lumMod val="75000"/>
                  </a:schemeClr>
                </a:solidFill>
                <a:latin typeface="Arial Rounded MT Bold" pitchFamily="34" charset="0"/>
                <a:ea typeface="Playfair Display Bold" pitchFamily="34" charset="-122"/>
                <a:cs typeface="Playfair Display Bold" pitchFamily="34" charset="-120"/>
              </a:rPr>
              <a:t>PROPOSED SOLUTION</a:t>
            </a:r>
            <a:endParaRPr lang="en-US" sz="4500" dirty="0">
              <a:solidFill>
                <a:schemeClr val="accent2">
                  <a:lumMod val="7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55081" y="1385174"/>
            <a:ext cx="7833837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800" dirty="0" err="1" smtClean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noTease</a:t>
            </a:r>
            <a:r>
              <a:rPr lang="en-US" sz="1800" dirty="0" smtClean="0">
                <a:solidFill>
                  <a:schemeClr val="accent2">
                    <a:lumMod val="50000"/>
                  </a:schemeClr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introduces a dual-tab system that balances urgency with depth:</a:t>
            </a:r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081" y="1769715"/>
            <a:ext cx="682831" cy="8964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78199" y="2961918"/>
            <a:ext cx="2910840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1537566" y="1918514"/>
            <a:ext cx="7211797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2000" b="1" dirty="0" smtClean="0"/>
              <a:t>Alerts</a:t>
            </a:r>
            <a:r>
              <a:rPr lang="en-US" sz="1400" dirty="0" smtClean="0"/>
              <a:t>: A stream of immediate, geo-tagged safety signals (e.g., “Suspicious activity near the metro at 8PM”). Alerts are concise and location-based, helping communities react quickly.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081" y="2774752"/>
            <a:ext cx="682831" cy="100526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08690" y="2954894"/>
            <a:ext cx="6710720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2000" b="1" dirty="0" err="1" smtClean="0"/>
              <a:t>noTease</a:t>
            </a:r>
            <a:r>
              <a:rPr lang="en-US" sz="1400" dirty="0" smtClean="0"/>
              <a:t>: Threaded discussions where users unpack incidents, share context, and connect observations. </a:t>
            </a:r>
            <a:r>
              <a:rPr lang="en-US" sz="1400" dirty="0" err="1" smtClean="0"/>
              <a:t>noTease</a:t>
            </a:r>
            <a:r>
              <a:rPr lang="en-US" sz="1400" dirty="0" smtClean="0"/>
              <a:t> transforms individual voices into community intelligence.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082" y="4170901"/>
            <a:ext cx="692156" cy="101899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78199" y="5717739"/>
            <a:ext cx="2339934" cy="2924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endParaRPr lang="en-US" dirty="0"/>
          </a:p>
        </p:txBody>
      </p:sp>
      <p:sp>
        <p:nvSpPr>
          <p:cNvPr id="13" name="Text 7"/>
          <p:cNvSpPr/>
          <p:nvPr/>
        </p:nvSpPr>
        <p:spPr>
          <a:xfrm>
            <a:off x="1537566" y="3871459"/>
            <a:ext cx="6710720" cy="598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1800" b="1" dirty="0" smtClean="0"/>
              <a:t>Each Alert generates a Case File:</a:t>
            </a:r>
          </a:p>
          <a:p>
            <a:pPr>
              <a:lnSpc>
                <a:spcPts val="2350"/>
              </a:lnSpc>
            </a:pPr>
            <a:r>
              <a:rPr lang="en-US" sz="1400" dirty="0" smtClean="0"/>
              <a:t>  • Snapshot: A concise overview of the reported incident. </a:t>
            </a:r>
          </a:p>
          <a:p>
            <a:pPr>
              <a:lnSpc>
                <a:spcPts val="2350"/>
              </a:lnSpc>
            </a:pPr>
            <a:endParaRPr lang="en-US" sz="1400" dirty="0" smtClean="0"/>
          </a:p>
          <a:p>
            <a:pPr>
              <a:lnSpc>
                <a:spcPts val="2350"/>
              </a:lnSpc>
            </a:pPr>
            <a:r>
              <a:rPr lang="en-US" sz="1400" dirty="0" smtClean="0"/>
              <a:t>• Evidence Locker: Repository for images, screenshots, and other supporting material. </a:t>
            </a:r>
          </a:p>
          <a:p>
            <a:pPr>
              <a:lnSpc>
                <a:spcPts val="2350"/>
              </a:lnSpc>
            </a:pPr>
            <a:endParaRPr lang="en-US" sz="1400" dirty="0" smtClean="0"/>
          </a:p>
          <a:p>
            <a:pPr>
              <a:lnSpc>
                <a:spcPts val="2350"/>
              </a:lnSpc>
            </a:pPr>
            <a:r>
              <a:rPr lang="en-US" sz="1400" dirty="0" smtClean="0"/>
              <a:t>• Flagged Votes: A transparent system where the community flags suspicious activities rather than assigning abstract credibility scores.</a:t>
            </a:r>
          </a:p>
          <a:p>
            <a:pPr>
              <a:lnSpc>
                <a:spcPts val="2350"/>
              </a:lnSpc>
            </a:pPr>
            <a:endParaRPr lang="en-US" sz="1400" dirty="0" smtClean="0"/>
          </a:p>
          <a:p>
            <a:pPr>
              <a:lnSpc>
                <a:spcPts val="2350"/>
              </a:lnSpc>
            </a:pPr>
            <a:r>
              <a:rPr lang="en-US" sz="1400" dirty="0" smtClean="0"/>
              <a:t> • Connected Reports: A web of linked incidents or individuals showing repeated patterns.</a:t>
            </a:r>
          </a:p>
          <a:p>
            <a:pPr>
              <a:lnSpc>
                <a:spcPts val="2350"/>
              </a:lnSpc>
            </a:pPr>
            <a:endParaRPr lang="en-US" sz="1400" dirty="0" smtClean="0"/>
          </a:p>
          <a:p>
            <a:pPr>
              <a:lnSpc>
                <a:spcPts val="2350"/>
              </a:lnSpc>
            </a:pPr>
            <a:r>
              <a:rPr lang="en-US" sz="1400" dirty="0" smtClean="0"/>
              <a:t> • Discussion Link: Direct bridge to the associated Gossip thread for collaborative analysis. </a:t>
            </a:r>
            <a:endParaRPr lang="en-US" sz="1400" dirty="0"/>
          </a:p>
        </p:txBody>
      </p:sp>
      <p:sp>
        <p:nvSpPr>
          <p:cNvPr id="15" name="Text 5"/>
          <p:cNvSpPr/>
          <p:nvPr/>
        </p:nvSpPr>
        <p:spPr>
          <a:xfrm>
            <a:off x="1778199" y="3946358"/>
            <a:ext cx="6710720" cy="1047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89082" y="529411"/>
            <a:ext cx="9088398" cy="4576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4300"/>
              </a:lnSpc>
            </a:pPr>
            <a:r>
              <a:rPr lang="en-US" sz="5400" b="1" dirty="0" smtClean="0">
                <a:solidFill>
                  <a:schemeClr val="accent2">
                    <a:lumMod val="75000"/>
                  </a:schemeClr>
                </a:solidFill>
                <a:latin typeface="Arial Rounded MT Bold" pitchFamily="34" charset="0"/>
              </a:rPr>
              <a:t>System Flow</a:t>
            </a:r>
            <a:endParaRPr lang="en-US" sz="5400" b="1" dirty="0">
              <a:solidFill>
                <a:schemeClr val="accent2">
                  <a:lumMod val="7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13174" y="1379696"/>
            <a:ext cx="13404056" cy="2803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592955" y="1660088"/>
            <a:ext cx="6488310" cy="56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250000"/>
              </a:lnSpc>
              <a:buSzPct val="100000"/>
            </a:pP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</a:rPr>
              <a:t>User creates an Alert with location and details.</a:t>
            </a:r>
          </a:p>
          <a:p>
            <a:pPr>
              <a:lnSpc>
                <a:spcPct val="250000"/>
              </a:lnSpc>
              <a:buSzPct val="100000"/>
            </a:pP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</a:rPr>
              <a:t> 2. Alert spawns a Case File, which aggregates further inputs.</a:t>
            </a:r>
          </a:p>
          <a:p>
            <a:pPr>
              <a:lnSpc>
                <a:spcPct val="250000"/>
              </a:lnSpc>
              <a:buSzPct val="100000"/>
            </a:pP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</a:rPr>
              <a:t> 3. Other users attach Reports or Evidence to the Case File. </a:t>
            </a:r>
          </a:p>
          <a:p>
            <a:pPr>
              <a:lnSpc>
                <a:spcPct val="250000"/>
              </a:lnSpc>
              <a:buSzPct val="100000"/>
            </a:pP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</a:rPr>
              <a:t>4. Community marks suspicious activity through Flagged votes.</a:t>
            </a:r>
          </a:p>
          <a:p>
            <a:pPr>
              <a:lnSpc>
                <a:spcPct val="250000"/>
              </a:lnSpc>
              <a:buSzPct val="100000"/>
            </a:pPr>
            <a:r>
              <a:rPr lang="en-US" sz="2000" dirty="0" smtClean="0">
                <a:solidFill>
                  <a:schemeClr val="accent2">
                    <a:lumMod val="50000"/>
                  </a:schemeClr>
                </a:solidFill>
              </a:rPr>
              <a:t> 5. Gossip threads build narrative depth and community consensus. </a:t>
            </a:r>
            <a:endParaRPr lang="en-US" sz="18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29" b="29787"/>
          <a:stretch/>
        </p:blipFill>
        <p:spPr>
          <a:xfrm>
            <a:off x="214341" y="1379696"/>
            <a:ext cx="4947021" cy="66387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1389" y="496014"/>
            <a:ext cx="7881222" cy="11275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400"/>
              </a:lnSpc>
            </a:pPr>
            <a:r>
              <a:rPr lang="en-IN" sz="4400" b="1" dirty="0" smtClean="0">
                <a:solidFill>
                  <a:schemeClr val="accent2">
                    <a:lumMod val="75000"/>
                  </a:schemeClr>
                </a:solidFill>
                <a:latin typeface="Arial Rounded MT Bold" pitchFamily="34" charset="0"/>
              </a:rPr>
              <a:t>Why </a:t>
            </a:r>
            <a:r>
              <a:rPr lang="en-IN" sz="4400" b="1" dirty="0" err="1" smtClean="0">
                <a:solidFill>
                  <a:schemeClr val="accent2">
                    <a:lumMod val="75000"/>
                  </a:schemeClr>
                </a:solidFill>
                <a:latin typeface="Arial Rounded MT Bold" pitchFamily="34" charset="0"/>
              </a:rPr>
              <a:t>noTease</a:t>
            </a:r>
            <a:r>
              <a:rPr lang="en-IN" sz="4400" b="1" dirty="0" smtClean="0">
                <a:solidFill>
                  <a:schemeClr val="accent2">
                    <a:lumMod val="75000"/>
                  </a:schemeClr>
                </a:solidFill>
                <a:latin typeface="Arial Rounded MT Bold" pitchFamily="34" charset="0"/>
              </a:rPr>
              <a:t> is Different</a:t>
            </a:r>
            <a:endParaRPr lang="en-US" sz="4400" b="1" dirty="0">
              <a:solidFill>
                <a:schemeClr val="accent2">
                  <a:lumMod val="7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31389" y="1894047"/>
            <a:ext cx="7881222" cy="57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You're never alone—our verified network mobilizes trusted neighbors for rapid, reassuring support in your moment of need.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631389" y="2674145"/>
            <a:ext cx="3850362" cy="2338150"/>
          </a:xfrm>
          <a:prstGeom prst="roundRect">
            <a:avLst>
              <a:gd name="adj" fmla="val 1157"/>
            </a:avLst>
          </a:prstGeom>
          <a:solidFill>
            <a:srgbClr val="E0E0EC"/>
          </a:solidFill>
          <a:ln/>
        </p:spPr>
      </p:sp>
      <p:sp>
        <p:nvSpPr>
          <p:cNvPr id="6" name="Shape 3"/>
          <p:cNvSpPr/>
          <p:nvPr/>
        </p:nvSpPr>
        <p:spPr>
          <a:xfrm>
            <a:off x="811768" y="2854525"/>
            <a:ext cx="541139" cy="541139"/>
          </a:xfrm>
          <a:prstGeom prst="roundRect">
            <a:avLst>
              <a:gd name="adj" fmla="val 16896002"/>
            </a:avLst>
          </a:prstGeom>
          <a:solidFill>
            <a:srgbClr val="101014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598" y="2972873"/>
            <a:ext cx="243483" cy="30444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11769" y="3576043"/>
            <a:ext cx="2255045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700" b="1" dirty="0" smtClean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Proactive Safety</a:t>
            </a:r>
            <a:endParaRPr lang="en-US" sz="1700" dirty="0"/>
          </a:p>
        </p:txBody>
      </p:sp>
      <p:sp>
        <p:nvSpPr>
          <p:cNvPr id="9" name="Text 5"/>
          <p:cNvSpPr/>
          <p:nvPr/>
        </p:nvSpPr>
        <p:spPr>
          <a:xfrm>
            <a:off x="811768" y="3966092"/>
            <a:ext cx="3489603" cy="86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 smtClean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Shifts focus from post-incident panic to preemptive awareness.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4662130" y="2674145"/>
            <a:ext cx="3850482" cy="2338150"/>
          </a:xfrm>
          <a:prstGeom prst="roundRect">
            <a:avLst>
              <a:gd name="adj" fmla="val 1157"/>
            </a:avLst>
          </a:prstGeom>
          <a:solidFill>
            <a:srgbClr val="E0E0EC"/>
          </a:solidFill>
          <a:ln/>
        </p:spPr>
      </p:sp>
      <p:sp>
        <p:nvSpPr>
          <p:cNvPr id="11" name="Shape 7"/>
          <p:cNvSpPr/>
          <p:nvPr/>
        </p:nvSpPr>
        <p:spPr>
          <a:xfrm>
            <a:off x="4842511" y="2854525"/>
            <a:ext cx="541139" cy="541139"/>
          </a:xfrm>
          <a:prstGeom prst="roundRect">
            <a:avLst>
              <a:gd name="adj" fmla="val 16896002"/>
            </a:avLst>
          </a:prstGeom>
          <a:solidFill>
            <a:srgbClr val="101014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91340" y="2972873"/>
            <a:ext cx="243483" cy="3044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42511" y="3576043"/>
            <a:ext cx="2255045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700" b="1" dirty="0" smtClean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Community Intelligence</a:t>
            </a:r>
            <a:endParaRPr lang="en-US" sz="1700" dirty="0"/>
          </a:p>
        </p:txBody>
      </p:sp>
      <p:sp>
        <p:nvSpPr>
          <p:cNvPr id="15" name="Shape 10"/>
          <p:cNvSpPr/>
          <p:nvPr/>
        </p:nvSpPr>
        <p:spPr>
          <a:xfrm>
            <a:off x="631389" y="5192673"/>
            <a:ext cx="3850362" cy="2049542"/>
          </a:xfrm>
          <a:prstGeom prst="roundRect">
            <a:avLst>
              <a:gd name="adj" fmla="val 1320"/>
            </a:avLst>
          </a:prstGeom>
          <a:solidFill>
            <a:srgbClr val="E0E0EC"/>
          </a:solidFill>
          <a:ln/>
        </p:spPr>
      </p:sp>
      <p:sp>
        <p:nvSpPr>
          <p:cNvPr id="16" name="Shape 11"/>
          <p:cNvSpPr/>
          <p:nvPr/>
        </p:nvSpPr>
        <p:spPr>
          <a:xfrm>
            <a:off x="811768" y="5373055"/>
            <a:ext cx="541139" cy="541139"/>
          </a:xfrm>
          <a:prstGeom prst="roundRect">
            <a:avLst>
              <a:gd name="adj" fmla="val 16896002"/>
            </a:avLst>
          </a:prstGeom>
          <a:solidFill>
            <a:srgbClr val="101014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598" y="5491402"/>
            <a:ext cx="243483" cy="30444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11769" y="6094573"/>
            <a:ext cx="2255045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700" b="1" dirty="0" smtClean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Pattern Recognition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811768" y="6484620"/>
            <a:ext cx="3489603" cy="57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 smtClean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Identifies recurring threats across time </a:t>
            </a:r>
          </a:p>
          <a:p>
            <a:pPr>
              <a:lnSpc>
                <a:spcPts val="2250"/>
              </a:lnSpc>
            </a:pPr>
            <a:r>
              <a:rPr lang="en-US" sz="1400" dirty="0" smtClean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space.</a:t>
            </a:r>
          </a:p>
        </p:txBody>
      </p:sp>
      <p:sp>
        <p:nvSpPr>
          <p:cNvPr id="21" name="Shape 10"/>
          <p:cNvSpPr/>
          <p:nvPr/>
        </p:nvSpPr>
        <p:spPr>
          <a:xfrm>
            <a:off x="4662250" y="5176340"/>
            <a:ext cx="3850362" cy="2049542"/>
          </a:xfrm>
          <a:prstGeom prst="roundRect">
            <a:avLst>
              <a:gd name="adj" fmla="val 1320"/>
            </a:avLst>
          </a:prstGeom>
          <a:solidFill>
            <a:srgbClr val="E0E0EC"/>
          </a:solidFill>
          <a:ln/>
        </p:spPr>
      </p:sp>
      <p:sp>
        <p:nvSpPr>
          <p:cNvPr id="23" name="Shape 11"/>
          <p:cNvSpPr/>
          <p:nvPr/>
        </p:nvSpPr>
        <p:spPr>
          <a:xfrm>
            <a:off x="4842510" y="5373055"/>
            <a:ext cx="541139" cy="541139"/>
          </a:xfrm>
          <a:prstGeom prst="roundRect">
            <a:avLst>
              <a:gd name="adj" fmla="val 16896002"/>
            </a:avLst>
          </a:prstGeom>
          <a:solidFill>
            <a:srgbClr val="101014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94045" y="5491580"/>
            <a:ext cx="243483" cy="304444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4906242" y="6201111"/>
            <a:ext cx="2255045" cy="2818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200"/>
              </a:lnSpc>
            </a:pPr>
            <a:r>
              <a:rPr lang="en-US" sz="1700" b="1" dirty="0" smtClean="0">
                <a:solidFill>
                  <a:srgbClr val="39393C"/>
                </a:solidFill>
                <a:latin typeface="Playfair Display Bold" pitchFamily="34" charset="0"/>
                <a:ea typeface="Playfair Display Bold" pitchFamily="34" charset="-122"/>
                <a:cs typeface="Playfair Display Bold" pitchFamily="34" charset="-120"/>
              </a:rPr>
              <a:t>Stealth and Anonymity:</a:t>
            </a:r>
            <a:endParaRPr lang="en-US" sz="1700" dirty="0"/>
          </a:p>
        </p:txBody>
      </p:sp>
      <p:sp>
        <p:nvSpPr>
          <p:cNvPr id="26" name="Text 13"/>
          <p:cNvSpPr/>
          <p:nvPr/>
        </p:nvSpPr>
        <p:spPr>
          <a:xfrm>
            <a:off x="811768" y="6484620"/>
            <a:ext cx="3669983" cy="577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 smtClean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Identifies recurring threats across time </a:t>
            </a:r>
          </a:p>
          <a:p>
            <a:pPr>
              <a:lnSpc>
                <a:spcPts val="2250"/>
              </a:lnSpc>
            </a:pPr>
            <a:r>
              <a:rPr lang="en-US" sz="1400" dirty="0" smtClean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and space.</a:t>
            </a:r>
          </a:p>
        </p:txBody>
      </p:sp>
      <p:sp>
        <p:nvSpPr>
          <p:cNvPr id="27" name="Text 9"/>
          <p:cNvSpPr/>
          <p:nvPr/>
        </p:nvSpPr>
        <p:spPr>
          <a:xfrm>
            <a:off x="4994910" y="4118492"/>
            <a:ext cx="3489722" cy="8658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250"/>
              </a:lnSpc>
            </a:pPr>
            <a:r>
              <a:rPr lang="en-US" sz="1400" dirty="0" smtClean="0">
                <a:solidFill>
                  <a:srgbClr val="39393C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Leverages collective input to build stronger safety nets.</a:t>
            </a:r>
            <a:endParaRPr lang="en-US" sz="1400" dirty="0"/>
          </a:p>
        </p:txBody>
      </p:sp>
      <p:sp>
        <p:nvSpPr>
          <p:cNvPr id="29" name="TextBox 28"/>
          <p:cNvSpPr txBox="1"/>
          <p:nvPr/>
        </p:nvSpPr>
        <p:spPr>
          <a:xfrm>
            <a:off x="4819615" y="6545284"/>
            <a:ext cx="43243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 smtClean="0">
                <a:latin typeface="Open Sans" charset="0"/>
                <a:ea typeface="Open Sans" charset="0"/>
                <a:cs typeface="Open Sans" charset="0"/>
              </a:rPr>
              <a:t>Enables safe participation without fear of retaliation.</a:t>
            </a:r>
            <a:endParaRPr lang="en-IN" sz="1400" dirty="0">
              <a:latin typeface="Open Sans" charset="0"/>
              <a:ea typeface="Open Sans" charset="0"/>
              <a:cs typeface="Open Sans" charset="0"/>
            </a:endParaRPr>
          </a:p>
        </p:txBody>
      </p:sp>
      <p:pic>
        <p:nvPicPr>
          <p:cNvPr id="1028" name="Picture 4" descr="https://assets.entrepreneur.com/content/3x2/2000/1678191490-Untitleddesign20.png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1440" y="1623537"/>
            <a:ext cx="6497279" cy="5602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9959" y="781009"/>
            <a:ext cx="9198531" cy="587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00"/>
              </a:lnSpc>
            </a:pPr>
            <a:r>
              <a:rPr lang="en-US" sz="5400" b="1" dirty="0" smtClean="0">
                <a:solidFill>
                  <a:schemeClr val="accent2">
                    <a:lumMod val="75000"/>
                  </a:schemeClr>
                </a:solidFill>
                <a:latin typeface="Arial Rounded MT Bold" pitchFamily="34" charset="0"/>
                <a:ea typeface="Playfair Display Bold" pitchFamily="34" charset="-122"/>
                <a:cs typeface="Playfair Display Bold" pitchFamily="34" charset="-120"/>
              </a:rPr>
              <a:t>CONCLUSION</a:t>
            </a:r>
            <a:endParaRPr lang="en-US" sz="5400" dirty="0">
              <a:solidFill>
                <a:schemeClr val="accent2">
                  <a:lumMod val="75000"/>
                </a:schemeClr>
              </a:solidFill>
              <a:latin typeface="Arial Rounded MT Bold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58537" y="1810803"/>
            <a:ext cx="13313331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50"/>
              </a:lnSpc>
            </a:pPr>
            <a:r>
              <a:rPr lang="en-US" sz="1600" dirty="0" err="1" smtClean="0">
                <a:latin typeface="Open Sans" charset="0"/>
                <a:ea typeface="Open Sans" charset="0"/>
                <a:cs typeface="Open Sans" charset="0"/>
              </a:rPr>
              <a:t>noTease</a:t>
            </a:r>
            <a:r>
              <a:rPr lang="en-US" sz="1600" dirty="0" smtClean="0">
                <a:latin typeface="Open Sans" charset="0"/>
                <a:ea typeface="Open Sans" charset="0"/>
                <a:cs typeface="Open Sans" charset="0"/>
              </a:rPr>
              <a:t> aims to fill the critical gap between isolated safety applications and structured intelligence systems. </a:t>
            </a:r>
          </a:p>
          <a:p>
            <a:pPr algn="ctr">
              <a:lnSpc>
                <a:spcPts val="2350"/>
              </a:lnSpc>
            </a:pPr>
            <a:r>
              <a:rPr lang="en-US" sz="1600" dirty="0" smtClean="0">
                <a:latin typeface="Open Sans" charset="0"/>
                <a:ea typeface="Open Sans" charset="0"/>
                <a:cs typeface="Open Sans" charset="0"/>
              </a:rPr>
              <a:t>                    By merging Alerts, Gossip, and Case Files into a seamless workflow, it empowers communities to not only react but also anticipate, </a:t>
            </a:r>
          </a:p>
          <a:p>
            <a:pPr algn="ctr">
              <a:lnSpc>
                <a:spcPts val="2350"/>
              </a:lnSpc>
            </a:pPr>
            <a:r>
              <a:rPr lang="en-US" sz="1600" dirty="0" smtClean="0">
                <a:latin typeface="Open Sans" charset="0"/>
                <a:ea typeface="Open Sans" charset="0"/>
                <a:cs typeface="Open Sans" charset="0"/>
              </a:rPr>
              <a:t>connect, and protect. </a:t>
            </a:r>
            <a:endParaRPr lang="en-US" sz="1600" dirty="0"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534" y="2182297"/>
            <a:ext cx="2352080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537" y="2664501"/>
            <a:ext cx="4085749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endParaRPr lang="en-US" sz="1400" dirty="0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4023"/>
          <a:stretch/>
        </p:blipFill>
        <p:spPr bwMode="auto">
          <a:xfrm>
            <a:off x="851041" y="3380073"/>
            <a:ext cx="3989497" cy="3966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55"/>
          <a:stretch/>
        </p:blipFill>
        <p:spPr bwMode="auto">
          <a:xfrm>
            <a:off x="5274515" y="3380073"/>
            <a:ext cx="4081374" cy="39668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 descr="Activating Women ...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5055" y="3380073"/>
            <a:ext cx="4085749" cy="3966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9959" y="578878"/>
            <a:ext cx="9198531" cy="587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00"/>
              </a:lnSpc>
            </a:pPr>
            <a:r>
              <a:rPr lang="en-US" sz="4800" b="1" dirty="0" smtClean="0">
                <a:solidFill>
                  <a:schemeClr val="accent2">
                    <a:lumMod val="75000"/>
                  </a:schemeClr>
                </a:solidFill>
                <a:latin typeface="Arial Rounded MT Bold" pitchFamily="34" charset="0"/>
                <a:ea typeface="Playfair Display Bold" pitchFamily="34" charset="-122"/>
                <a:cs typeface="Playfair Display Bold" pitchFamily="34" charset="-120"/>
              </a:rPr>
              <a:t>USER INTERFACE</a:t>
            </a:r>
          </a:p>
        </p:txBody>
      </p:sp>
      <p:sp>
        <p:nvSpPr>
          <p:cNvPr id="3" name="Text 1"/>
          <p:cNvSpPr/>
          <p:nvPr/>
        </p:nvSpPr>
        <p:spPr>
          <a:xfrm>
            <a:off x="658537" y="1810803"/>
            <a:ext cx="13313331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50"/>
              </a:lnSpc>
            </a:pPr>
            <a:endParaRPr lang="en-US" sz="1600" dirty="0"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534" y="2182297"/>
            <a:ext cx="2352080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537" y="2664501"/>
            <a:ext cx="4085749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endParaRPr lang="en-US" sz="1400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97"/>
          <a:stretch/>
        </p:blipFill>
        <p:spPr>
          <a:xfrm>
            <a:off x="1041329" y="1484445"/>
            <a:ext cx="3320163" cy="640827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54"/>
          <a:stretch/>
        </p:blipFill>
        <p:spPr>
          <a:xfrm>
            <a:off x="5419024" y="1484445"/>
            <a:ext cx="3411465" cy="6408272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677"/>
          <a:stretch/>
        </p:blipFill>
        <p:spPr>
          <a:xfrm>
            <a:off x="9833003" y="1411002"/>
            <a:ext cx="3436219" cy="6481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7270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9959" y="781009"/>
            <a:ext cx="9198531" cy="587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00"/>
              </a:lnSpc>
            </a:pPr>
            <a:endParaRPr lang="en-US" sz="5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4" name="Text 2"/>
          <p:cNvSpPr/>
          <p:nvPr/>
        </p:nvSpPr>
        <p:spPr>
          <a:xfrm>
            <a:off x="658534" y="2182297"/>
            <a:ext cx="2352080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537" y="2664501"/>
            <a:ext cx="4085749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endParaRPr lang="en-US" sz="14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62" b="2146"/>
          <a:stretch/>
        </p:blipFill>
        <p:spPr>
          <a:xfrm>
            <a:off x="1921765" y="501334"/>
            <a:ext cx="3776389" cy="766088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07" b="1872"/>
          <a:stretch/>
        </p:blipFill>
        <p:spPr>
          <a:xfrm>
            <a:off x="7019222" y="531543"/>
            <a:ext cx="3696891" cy="7630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126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19959" y="781009"/>
            <a:ext cx="9198531" cy="5879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4600"/>
              </a:lnSpc>
            </a:pPr>
            <a:endParaRPr lang="en-US" sz="5400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Text 1"/>
          <p:cNvSpPr/>
          <p:nvPr/>
        </p:nvSpPr>
        <p:spPr>
          <a:xfrm>
            <a:off x="658537" y="1810803"/>
            <a:ext cx="13313331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50"/>
              </a:lnSpc>
            </a:pPr>
            <a:endParaRPr lang="en-US" sz="1600" dirty="0"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534" y="2182297"/>
            <a:ext cx="2352080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58537" y="2664501"/>
            <a:ext cx="4085749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endParaRPr lang="en-US" sz="1400" dirty="0"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3" b="2525"/>
          <a:stretch/>
        </p:blipFill>
        <p:spPr>
          <a:xfrm>
            <a:off x="2701411" y="270164"/>
            <a:ext cx="3696891" cy="7751618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82" b="4293"/>
          <a:stretch/>
        </p:blipFill>
        <p:spPr>
          <a:xfrm>
            <a:off x="7603562" y="270164"/>
            <a:ext cx="3696891" cy="7606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44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534" y="1406566"/>
            <a:ext cx="13313331" cy="3009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ts val="2350"/>
              </a:lnSpc>
            </a:pPr>
            <a:endParaRPr lang="en-US" sz="1600" dirty="0">
              <a:latin typeface="Open Sans" charset="0"/>
              <a:ea typeface="Open Sans" charset="0"/>
              <a:cs typeface="Open Sans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658534" y="2182297"/>
            <a:ext cx="2352080" cy="294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300"/>
              </a:lnSpc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64601" y="1406566"/>
            <a:ext cx="4257595" cy="9029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350"/>
              </a:lnSpc>
            </a:pPr>
            <a:r>
              <a:rPr lang="en-US" sz="4800" dirty="0" smtClean="0">
                <a:solidFill>
                  <a:schemeClr val="accent2">
                    <a:lumMod val="75000"/>
                  </a:schemeClr>
                </a:solidFill>
                <a:latin typeface="Arial Rounded MT Bold" panose="020F0704030504030204" pitchFamily="34" charset="0"/>
              </a:rPr>
              <a:t>DEMO VIDEO: </a:t>
            </a:r>
            <a:endParaRPr lang="en-US" sz="4800" dirty="0">
              <a:solidFill>
                <a:schemeClr val="accent2">
                  <a:lumMod val="75000"/>
                </a:schemeClr>
              </a:solidFill>
              <a:latin typeface="Arial Rounded MT Bold" panose="020F0704030504030204" pitchFamily="34" charset="0"/>
            </a:endParaRPr>
          </a:p>
        </p:txBody>
      </p:sp>
      <p:pic>
        <p:nvPicPr>
          <p:cNvPr id="6" name="WhatsApp Video 2025-10-04 at 07.14.49_eede520c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466945" y="3087"/>
            <a:ext cx="3686783" cy="820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738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751</TotalTime>
  <Words>581</Words>
  <Application>Microsoft Office PowerPoint</Application>
  <PresentationFormat>Custom</PresentationFormat>
  <Paragraphs>86</Paragraphs>
  <Slides>12</Slides>
  <Notes>11</Notes>
  <HiddenSlides>0</HiddenSlides>
  <MMClips>1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9" baseType="lpstr">
      <vt:lpstr>Playfair Display Bold</vt:lpstr>
      <vt:lpstr>Calibri</vt:lpstr>
      <vt:lpstr>Open Sans</vt:lpstr>
      <vt:lpstr>Malgun Gothic</vt:lpstr>
      <vt:lpstr>Arial</vt:lpstr>
      <vt:lpstr>Arial Rounded MT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ADMIN</cp:lastModifiedBy>
  <cp:revision>34</cp:revision>
  <dcterms:created xsi:type="dcterms:W3CDTF">2025-10-03T13:43:58Z</dcterms:created>
  <dcterms:modified xsi:type="dcterms:W3CDTF">2025-10-04T02:18:32Z</dcterms:modified>
</cp:coreProperties>
</file>